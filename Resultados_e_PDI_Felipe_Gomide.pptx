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715000" type="screen16x10"/>
  <p:notesSz cx="6858000" cy="9144000"/>
  <p:defaultTextStyle>
    <a:defPPr>
      <a:defRPr lang="pt-BR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82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9C2B02-43DA-74AD-2F82-A0347B17BE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6E6D6B-71C3-6B75-6E3E-1B97BD1C86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730A264-3AF7-5FAB-E882-3EFD1E889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71599-5879-4F01-A331-8FAFD20081DB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7CB4726-E197-C6C7-950C-BAED87635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59458F-60DE-983A-1495-A1824384F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BF727-C691-49B4-BA77-6EA7B93047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5733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5BB129-E29C-F82E-138A-47B367A29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C45814-64E1-89A4-117A-E1ECA7841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1D86DCA-142E-18E6-496E-65552184A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71599-5879-4F01-A331-8FAFD20081DB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C5331C-F0DB-316E-66BA-2BF39691C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BBCC3D-2B2C-44AF-D04E-45737C41C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BF727-C691-49B4-BA77-6EA7B93047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8184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E0B3BD-000A-F85C-24A5-9B99D9EE9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E83FD07-45C4-70A5-96C5-447B22B34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7EDC6CD-20D5-2463-43D8-ED846FA4A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71599-5879-4F01-A331-8FAFD20081DB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553436-5002-A420-024C-A218B0672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7A4418F-634A-3F52-232F-E22CF8BD5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BF727-C691-49B4-BA77-6EA7B93047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7683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6E9AA3-41A4-955C-2280-29007B5D9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5AF1270-29B2-92FF-5570-ABAAE7D0DF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EC716C2-1021-B6D4-E7B8-379A47958A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9C410FE-1F66-A286-B72F-7E87CF5A8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71599-5879-4F01-A331-8FAFD20081DB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4373FE1-919B-B7DC-C584-F0F303C98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6EFD4EC-EAB9-A199-20CA-486D21C1F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BF727-C691-49B4-BA77-6EA7B93047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6009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72D46D-E83A-9C99-884F-8E9799794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3F5C4F6-1FDB-DA00-50C7-6261A5915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EA222C8-9929-C527-BD35-CBBCEEF7AA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76C21EC-AF30-AE41-8C08-B8118CB45A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EB0FE65-A7DC-B0C2-90B0-FC6A21B48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1286810-16E9-D3B3-99FF-0A77DCF2A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71599-5879-4F01-A331-8FAFD20081DB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FAF4793-2EA1-6EEB-71E8-8A9D6CF0C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42DD151-ADD7-2659-BCBD-F9CBA4CEB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BF727-C691-49B4-BA77-6EA7B93047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2186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740E6C-F40C-7667-83EF-C6A23C6D9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8FA4D3B-F377-2F47-003A-79E784216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71599-5879-4F01-A331-8FAFD20081DB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738E320-43F7-AC26-919C-0D79943FD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9B6B548-961F-880A-2279-DFF27D7D0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BF727-C691-49B4-BA77-6EA7B93047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5281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EDF04FB-6F15-0254-407D-955303B27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71599-5879-4F01-A331-8FAFD20081DB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F66DA48-00C5-F2B1-9FCB-C655B4E78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2920DB3-0FAF-C795-C2E1-77B58EE54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BF727-C691-49B4-BA77-6EA7B93047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970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0306C4-A4C5-BF24-A703-AF7E55159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DF087B-60F4-96B2-89BC-2F981E639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27F24CA-CAB2-9A11-4232-FAE6F9FE6D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179683A-E767-BB8A-7182-D2A5D0AEB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71599-5879-4F01-A331-8FAFD20081DB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BF3D908-85C5-4C07-8895-B0F8A631D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C21AB1C-E178-D3A0-F047-BBB701097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BF727-C691-49B4-BA77-6EA7B93047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5198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6B215E-CD13-F276-8288-8496DF944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1C52447-0686-2D6A-0571-AE786B8766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0DA3321-D341-0A27-FF3F-F1E90EC103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1FC408E-A5E8-3CE8-AB6D-3309ECFA3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71599-5879-4F01-A331-8FAFD20081DB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8A7B5C6-2D09-C678-E81A-BA53CA69D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3147EB6-1FD4-53E1-7D24-CA9FB8F03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BF727-C691-49B4-BA77-6EA7B93047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7353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48737C-4940-4B3E-1832-B15DB77AB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5AACA35-285E-711B-7AFA-AEE048BB2B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67E997-71BF-5DC6-0826-382B2940A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71599-5879-4F01-A331-8FAFD20081DB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8B1EAD-CBCD-48A2-838E-AFD8FB173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E7CC528-40AA-2126-E417-F1CF18204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BF727-C691-49B4-BA77-6EA7B93047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3294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D6F69D-20BF-9F74-EF81-7FD49E9457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970B8A7-5062-8B20-D774-ED7A5C4F17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8E93D5-2F63-231E-D9D8-F4D035A8E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71599-5879-4F01-A331-8FAFD20081DB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5266FC-57B0-0F34-5C58-10FBC73E8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438090-3FCE-A6BA-3044-E322FFDB2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BF727-C691-49B4-BA77-6EA7B93047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0292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B7280CC-C5A4-0E16-8B8E-D666C250D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E9BF126-5CD3-2693-3F1A-8DE932BF2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50E77A-43E5-0126-0876-B7183A4026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971599-5879-4F01-A331-8FAFD20081DB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067955-E2CB-9A3E-9CA0-92FE654906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B6C49C-186E-7D1E-1495-28B27D9078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8BF727-C691-49B4-BA77-6EA7B93047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6036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1DE35B0-F8B7-7983-B819-B35FDD7BBCEC}"/>
              </a:ext>
            </a:extLst>
          </p:cNvPr>
          <p:cNvSpPr/>
          <p:nvPr/>
        </p:nvSpPr>
        <p:spPr>
          <a:xfrm>
            <a:off x="9710928" y="0"/>
            <a:ext cx="2487168" cy="6858000"/>
          </a:xfrm>
          <a:prstGeom prst="rect">
            <a:avLst/>
          </a:prstGeom>
          <a:solidFill>
            <a:srgbClr val="D7193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AA870B3-97B7-8193-C652-9FED8B452BCC}"/>
              </a:ext>
            </a:extLst>
          </p:cNvPr>
          <p:cNvSpPr/>
          <p:nvPr/>
        </p:nvSpPr>
        <p:spPr>
          <a:xfrm>
            <a:off x="9710928" y="0"/>
            <a:ext cx="100584" cy="6858000"/>
          </a:xfrm>
          <a:prstGeom prst="rect">
            <a:avLst/>
          </a:prstGeom>
          <a:solidFill>
            <a:srgbClr val="F0B4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BD8C277-E966-93A6-9B48-E6FD424962EB}"/>
              </a:ext>
            </a:extLst>
          </p:cNvPr>
          <p:cNvSpPr txBox="1"/>
          <p:nvPr/>
        </p:nvSpPr>
        <p:spPr>
          <a:xfrm>
            <a:off x="777240" y="658368"/>
            <a:ext cx="804672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100" b="1">
                <a:solidFill>
                  <a:srgbClr val="AFC0D0"/>
                </a:solidFill>
                <a:latin typeface="Aptos" panose="020B0004020202020204" pitchFamily="34" charset="0"/>
              </a:rPr>
              <a:t>CICLO 2025–2026  |  CONVERSA DE DESENVOLVIMENTO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106B0DC-28B7-BE30-ABA2-25ECEBB61702}"/>
              </a:ext>
            </a:extLst>
          </p:cNvPr>
          <p:cNvSpPr txBox="1"/>
          <p:nvPr/>
        </p:nvSpPr>
        <p:spPr>
          <a:xfrm>
            <a:off x="777240" y="1572768"/>
            <a:ext cx="82296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4000" b="1">
                <a:solidFill>
                  <a:srgbClr val="FFFFFF"/>
                </a:solidFill>
                <a:latin typeface="Aptos" panose="020B0004020202020204" pitchFamily="34" charset="0"/>
              </a:rPr>
              <a:t>De execução a\nownership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0A8AE5-BB45-11C2-A22D-359B2DECC4CE}"/>
              </a:ext>
            </a:extLst>
          </p:cNvPr>
          <p:cNvSpPr txBox="1"/>
          <p:nvPr/>
        </p:nvSpPr>
        <p:spPr>
          <a:xfrm>
            <a:off x="804672" y="3456432"/>
            <a:ext cx="768096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000">
                <a:solidFill>
                  <a:srgbClr val="D5DEE7"/>
                </a:solidFill>
                <a:latin typeface="Aptos" panose="020B0004020202020204" pitchFamily="34" charset="0"/>
              </a:rPr>
              <a:t>Resultados em changes, aprendizados e proposta de próximo passo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F197125-6F49-EFE1-8259-B5E0FE1A425A}"/>
              </a:ext>
            </a:extLst>
          </p:cNvPr>
          <p:cNvSpPr/>
          <p:nvPr/>
        </p:nvSpPr>
        <p:spPr>
          <a:xfrm>
            <a:off x="804672" y="4892040"/>
            <a:ext cx="4297680" cy="566928"/>
          </a:xfrm>
          <a:prstGeom prst="rect">
            <a:avLst/>
          </a:prstGeom>
          <a:solidFill>
            <a:srgbClr val="2038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4793836-698C-C59A-746E-536AB8925809}"/>
              </a:ext>
            </a:extLst>
          </p:cNvPr>
          <p:cNvSpPr txBox="1"/>
          <p:nvPr/>
        </p:nvSpPr>
        <p:spPr>
          <a:xfrm>
            <a:off x="1024128" y="5056632"/>
            <a:ext cx="393192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100" b="1">
                <a:solidFill>
                  <a:srgbClr val="FFFFFF"/>
                </a:solidFill>
                <a:latin typeface="Aptos" panose="020B0004020202020204" pitchFamily="34" charset="0"/>
              </a:rPr>
              <a:t>FELIPE GOMIDE  •  OUTUBRO 2026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3D19F34-6E29-DC6B-39F5-BDC10C090E85}"/>
              </a:ext>
            </a:extLst>
          </p:cNvPr>
          <p:cNvSpPr txBox="1"/>
          <p:nvPr/>
        </p:nvSpPr>
        <p:spPr>
          <a:xfrm>
            <a:off x="10058400" y="1024128"/>
            <a:ext cx="164592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500" b="1">
                <a:solidFill>
                  <a:srgbClr val="FFFFFF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0740677-2F45-775E-8BDD-11867FCD95F1}"/>
              </a:ext>
            </a:extLst>
          </p:cNvPr>
          <p:cNvSpPr txBox="1"/>
          <p:nvPr/>
        </p:nvSpPr>
        <p:spPr>
          <a:xfrm>
            <a:off x="10058400" y="1828800"/>
            <a:ext cx="164592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FFFFFF"/>
                </a:solidFill>
                <a:latin typeface="Aptos" panose="020B0004020202020204" pitchFamily="34" charset="0"/>
              </a:rPr>
              <a:t>OPERAR.\nAPRENDER.\nAMPLIAR.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3AD9556-CF1F-AFB3-F8A1-107B133F5208}"/>
              </a:ext>
            </a:extLst>
          </p:cNvPr>
          <p:cNvSpPr txBox="1"/>
          <p:nvPr/>
        </p:nvSpPr>
        <p:spPr>
          <a:xfrm>
            <a:off x="10058400" y="6108192"/>
            <a:ext cx="173736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FFFFFF"/>
                </a:solidFill>
                <a:latin typeface="Aptos" panose="020B0004020202020204" pitchFamily="34" charset="0"/>
              </a:rPr>
              <a:t>RASCUNHO</a:t>
            </a:r>
          </a:p>
        </p:txBody>
      </p:sp>
    </p:spTree>
    <p:extLst>
      <p:ext uri="{BB962C8B-B14F-4D97-AF65-F5344CB8AC3E}">
        <p14:creationId xmlns:p14="http://schemas.microsoft.com/office/powerpoint/2010/main" val="838178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A6EE500-BA5D-132B-06E7-DF5EF320772C}"/>
              </a:ext>
            </a:extLst>
          </p:cNvPr>
          <p:cNvSpPr txBox="1"/>
          <p:nvPr/>
        </p:nvSpPr>
        <p:spPr>
          <a:xfrm>
            <a:off x="658368" y="329184"/>
            <a:ext cx="914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D7193F"/>
                </a:solidFill>
                <a:latin typeface="Aptos" panose="020B0004020202020204" pitchFamily="34" charset="0"/>
              </a:rPr>
              <a:t>01  |  VISÃO GERAL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21C06F4-59B5-57F4-E7D8-230FAAD3273D}"/>
              </a:ext>
            </a:extLst>
          </p:cNvPr>
          <p:cNvSpPr txBox="1"/>
          <p:nvPr/>
        </p:nvSpPr>
        <p:spPr>
          <a:xfrm>
            <a:off x="658368" y="658368"/>
            <a:ext cx="109728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700" b="1">
                <a:solidFill>
                  <a:srgbClr val="11253D"/>
                </a:solidFill>
                <a:latin typeface="Aptos" panose="020B0004020202020204" pitchFamily="34" charset="0"/>
              </a:rPr>
              <a:t>Um ano de operação, com escala e variedade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08553AE-F396-7D36-327F-27C8FC81B8F2}"/>
              </a:ext>
            </a:extLst>
          </p:cNvPr>
          <p:cNvSpPr/>
          <p:nvPr/>
        </p:nvSpPr>
        <p:spPr>
          <a:xfrm>
            <a:off x="658368" y="1307592"/>
            <a:ext cx="10881360" cy="13716"/>
          </a:xfrm>
          <a:prstGeom prst="rect">
            <a:avLst/>
          </a:prstGeom>
          <a:solidFill>
            <a:srgbClr val="E8EE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905E9CE-BF44-BA0B-38A3-E0A92688D9A7}"/>
              </a:ext>
            </a:extLst>
          </p:cNvPr>
          <p:cNvSpPr txBox="1"/>
          <p:nvPr/>
        </p:nvSpPr>
        <p:spPr>
          <a:xfrm>
            <a:off x="658368" y="6510528"/>
            <a:ext cx="8229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5D6B79"/>
                </a:solidFill>
                <a:latin typeface="Aptos" panose="020B0004020202020204" pitchFamily="34" charset="0"/>
              </a:rPr>
              <a:t>FELIPE GOMIDE  |  RESULTADOS &amp; PDI  |  RASCUNHO PARA DISCUSSÃO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513A6EF-0563-C107-2510-099BCFC4EC2F}"/>
              </a:ext>
            </a:extLst>
          </p:cNvPr>
          <p:cNvSpPr txBox="1"/>
          <p:nvPr/>
        </p:nvSpPr>
        <p:spPr>
          <a:xfrm>
            <a:off x="11064240" y="6473952"/>
            <a:ext cx="457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5D6B79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72C41F1-95A8-758C-BB30-3936DCABBD02}"/>
              </a:ext>
            </a:extLst>
          </p:cNvPr>
          <p:cNvSpPr/>
          <p:nvPr/>
        </p:nvSpPr>
        <p:spPr>
          <a:xfrm>
            <a:off x="713232" y="1664208"/>
            <a:ext cx="3401568" cy="1572768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F110BD8-1D96-7AD7-4082-79A5CAE73280}"/>
              </a:ext>
            </a:extLst>
          </p:cNvPr>
          <p:cNvSpPr/>
          <p:nvPr/>
        </p:nvSpPr>
        <p:spPr>
          <a:xfrm>
            <a:off x="713232" y="1664208"/>
            <a:ext cx="64008" cy="1572768"/>
          </a:xfrm>
          <a:prstGeom prst="rect">
            <a:avLst/>
          </a:prstGeom>
          <a:solidFill>
            <a:srgbClr val="D7193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A3F5D5F-510D-CE5E-3346-6807BC096C4D}"/>
              </a:ext>
            </a:extLst>
          </p:cNvPr>
          <p:cNvSpPr txBox="1"/>
          <p:nvPr/>
        </p:nvSpPr>
        <p:spPr>
          <a:xfrm>
            <a:off x="932688" y="1847088"/>
            <a:ext cx="3035808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3000" b="1">
                <a:solidFill>
                  <a:srgbClr val="11253D"/>
                </a:solidFill>
                <a:latin typeface="Aptos" panose="020B0004020202020204" pitchFamily="34" charset="0"/>
              </a:rPr>
              <a:t>250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EC00D66-F882-0809-DF35-21EBD497B8EF}"/>
              </a:ext>
            </a:extLst>
          </p:cNvPr>
          <p:cNvSpPr txBox="1"/>
          <p:nvPr/>
        </p:nvSpPr>
        <p:spPr>
          <a:xfrm>
            <a:off x="932688" y="2487168"/>
            <a:ext cx="3035808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5D6B79"/>
                </a:solidFill>
                <a:latin typeface="Aptos" panose="020B0004020202020204" pitchFamily="34" charset="0"/>
              </a:rPr>
              <a:t>tarefas registradas atribuídas a Felipe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776C6EE-F0DA-BD64-E49C-5E0943D9B609}"/>
              </a:ext>
            </a:extLst>
          </p:cNvPr>
          <p:cNvSpPr/>
          <p:nvPr/>
        </p:nvSpPr>
        <p:spPr>
          <a:xfrm>
            <a:off x="4389120" y="1664208"/>
            <a:ext cx="3401568" cy="1572768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050309B-75D6-7E35-224E-43A8D9918B5C}"/>
              </a:ext>
            </a:extLst>
          </p:cNvPr>
          <p:cNvSpPr/>
          <p:nvPr/>
        </p:nvSpPr>
        <p:spPr>
          <a:xfrm>
            <a:off x="4389120" y="1664208"/>
            <a:ext cx="64008" cy="1572768"/>
          </a:xfrm>
          <a:prstGeom prst="rect">
            <a:avLst/>
          </a:prstGeom>
          <a:solidFill>
            <a:srgbClr val="2A8F9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9F94643-DCD3-16EC-45CA-CA408F38E785}"/>
              </a:ext>
            </a:extLst>
          </p:cNvPr>
          <p:cNvSpPr txBox="1"/>
          <p:nvPr/>
        </p:nvSpPr>
        <p:spPr>
          <a:xfrm>
            <a:off x="4608576" y="1847088"/>
            <a:ext cx="3035808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3000" b="1">
                <a:solidFill>
                  <a:srgbClr val="11253D"/>
                </a:solidFill>
                <a:latin typeface="Aptos" panose="020B0004020202020204" pitchFamily="34" charset="0"/>
              </a:rPr>
              <a:t>157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26A53A0-58EA-9E9C-D2BF-9CF4AC9BD5F7}"/>
              </a:ext>
            </a:extLst>
          </p:cNvPr>
          <p:cNvSpPr txBox="1"/>
          <p:nvPr/>
        </p:nvSpPr>
        <p:spPr>
          <a:xfrm>
            <a:off x="4608576" y="2487168"/>
            <a:ext cx="3035808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5D6B79"/>
                </a:solidFill>
                <a:latin typeface="Aptos" panose="020B0004020202020204" pitchFamily="34" charset="0"/>
              </a:rPr>
              <a:t>CHGs distintos associados às tarefas atribuídas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51A06F4E-90F5-3D02-E8B4-FF643A86F22F}"/>
              </a:ext>
            </a:extLst>
          </p:cNvPr>
          <p:cNvSpPr/>
          <p:nvPr/>
        </p:nvSpPr>
        <p:spPr>
          <a:xfrm>
            <a:off x="8065008" y="1664208"/>
            <a:ext cx="3401568" cy="1572768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49C13702-9D7E-7201-37EB-7350E443A1DA}"/>
              </a:ext>
            </a:extLst>
          </p:cNvPr>
          <p:cNvSpPr/>
          <p:nvPr/>
        </p:nvSpPr>
        <p:spPr>
          <a:xfrm>
            <a:off x="8065008" y="1664208"/>
            <a:ext cx="64007" cy="1572768"/>
          </a:xfrm>
          <a:prstGeom prst="rect">
            <a:avLst/>
          </a:prstGeom>
          <a:solidFill>
            <a:srgbClr val="F0B4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A86C340F-B339-AC31-CCBA-F5B4F31C0773}"/>
              </a:ext>
            </a:extLst>
          </p:cNvPr>
          <p:cNvSpPr txBox="1"/>
          <p:nvPr/>
        </p:nvSpPr>
        <p:spPr>
          <a:xfrm>
            <a:off x="8284464" y="1847088"/>
            <a:ext cx="3035808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3000" b="1">
                <a:solidFill>
                  <a:srgbClr val="11253D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723BECC-69D6-98DF-9E51-AE8583B220A0}"/>
              </a:ext>
            </a:extLst>
          </p:cNvPr>
          <p:cNvSpPr txBox="1"/>
          <p:nvPr/>
        </p:nvSpPr>
        <p:spPr>
          <a:xfrm>
            <a:off x="8284464" y="2487168"/>
            <a:ext cx="3035808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5D6B79"/>
                </a:solidFill>
                <a:latin typeface="Aptos" panose="020B0004020202020204" pitchFamily="34" charset="0"/>
              </a:rPr>
              <a:t>etapas presentes: implementação, retorno e validação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A1CCFCC5-BA3E-9D81-4A42-D66404D707F0}"/>
              </a:ext>
            </a:extLst>
          </p:cNvPr>
          <p:cNvSpPr/>
          <p:nvPr/>
        </p:nvSpPr>
        <p:spPr>
          <a:xfrm>
            <a:off x="713232" y="3675888"/>
            <a:ext cx="10753343" cy="1965960"/>
          </a:xfrm>
          <a:prstGeom prst="rect">
            <a:avLst/>
          </a:prstGeom>
          <a:solidFill>
            <a:srgbClr val="1125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4AAB4AE-95E9-16AC-0B1B-0FC39CAD3824}"/>
              </a:ext>
            </a:extLst>
          </p:cNvPr>
          <p:cNvSpPr txBox="1"/>
          <p:nvPr/>
        </p:nvSpPr>
        <p:spPr>
          <a:xfrm>
            <a:off x="987552" y="3968496"/>
            <a:ext cx="996696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800" b="1">
                <a:solidFill>
                  <a:srgbClr val="FFFFFF"/>
                </a:solidFill>
                <a:latin typeface="Aptos" panose="020B0004020202020204" pitchFamily="34" charset="0"/>
              </a:rPr>
              <a:t>A história que os dados sustentam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9A7C2F50-3F49-0A95-4D2B-508AC6146BC2}"/>
              </a:ext>
            </a:extLst>
          </p:cNvPr>
          <p:cNvSpPr txBox="1"/>
          <p:nvPr/>
        </p:nvSpPr>
        <p:spPr>
          <a:xfrm>
            <a:off x="987552" y="4462272"/>
            <a:ext cx="996696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>
                <a:solidFill>
                  <a:srgbClr val="E4EBF1"/>
                </a:solidFill>
                <a:latin typeface="Aptos" panose="020B0004020202020204" pitchFamily="34" charset="0"/>
              </a:rPr>
              <a:t>Atuação recorrente em changes ao longo do ciclo, cobrindo execução, retorno e validação. A oportunidade agora é converter essa experiência operacional em melhorias mensuráveis e maior ownership.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7300166B-255B-D531-3BB2-F83D59922623}"/>
              </a:ext>
            </a:extLst>
          </p:cNvPr>
          <p:cNvSpPr txBox="1"/>
          <p:nvPr/>
        </p:nvSpPr>
        <p:spPr>
          <a:xfrm>
            <a:off x="749808" y="5879592"/>
            <a:ext cx="1042416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>
                <a:solidFill>
                  <a:srgbClr val="5D6B79"/>
                </a:solidFill>
                <a:latin typeface="Aptos" panose="020B0004020202020204" pitchFamily="34" charset="0"/>
              </a:rPr>
              <a:t>Período pelas datas planejadas das tarefas: 06/10/2025 a 06/10/2026. Contagem de tarefas ≠ contagem de CHGs.</a:t>
            </a:r>
          </a:p>
        </p:txBody>
      </p:sp>
    </p:spTree>
    <p:extLst>
      <p:ext uri="{BB962C8B-B14F-4D97-AF65-F5344CB8AC3E}">
        <p14:creationId xmlns:p14="http://schemas.microsoft.com/office/powerpoint/2010/main" val="2511864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3ED0A22-B68E-6866-4FAC-C8A6EA7F9AAB}"/>
              </a:ext>
            </a:extLst>
          </p:cNvPr>
          <p:cNvSpPr txBox="1"/>
          <p:nvPr/>
        </p:nvSpPr>
        <p:spPr>
          <a:xfrm>
            <a:off x="658368" y="329184"/>
            <a:ext cx="914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D7193F"/>
                </a:solidFill>
                <a:latin typeface="Aptos" panose="020B0004020202020204" pitchFamily="34" charset="0"/>
              </a:rPr>
              <a:t>02  |  PORTFÓLIO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E16ECE7-3B97-1ED3-9462-3A558EBBA8D4}"/>
              </a:ext>
            </a:extLst>
          </p:cNvPr>
          <p:cNvSpPr txBox="1"/>
          <p:nvPr/>
        </p:nvSpPr>
        <p:spPr>
          <a:xfrm>
            <a:off x="658368" y="658368"/>
            <a:ext cx="109728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700" b="1">
                <a:solidFill>
                  <a:srgbClr val="11253D"/>
                </a:solidFill>
                <a:latin typeface="Aptos" panose="020B0004020202020204" pitchFamily="34" charset="0"/>
              </a:rPr>
              <a:t>A carteira percorre operações core e cloud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30F2D53-7E71-C1AB-2D9E-F1E59488F510}"/>
              </a:ext>
            </a:extLst>
          </p:cNvPr>
          <p:cNvSpPr/>
          <p:nvPr/>
        </p:nvSpPr>
        <p:spPr>
          <a:xfrm>
            <a:off x="658368" y="1307592"/>
            <a:ext cx="10881360" cy="13716"/>
          </a:xfrm>
          <a:prstGeom prst="rect">
            <a:avLst/>
          </a:prstGeom>
          <a:solidFill>
            <a:srgbClr val="E8EE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5D98134-2223-B0C5-4060-A4FEA9032F43}"/>
              </a:ext>
            </a:extLst>
          </p:cNvPr>
          <p:cNvSpPr txBox="1"/>
          <p:nvPr/>
        </p:nvSpPr>
        <p:spPr>
          <a:xfrm>
            <a:off x="658368" y="6510528"/>
            <a:ext cx="8229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5D6B79"/>
                </a:solidFill>
                <a:latin typeface="Aptos" panose="020B0004020202020204" pitchFamily="34" charset="0"/>
              </a:rPr>
              <a:t>FELIPE GOMIDE  |  RESULTADOS &amp; PDI  |  RASCUNHO PARA DISCUSSÃO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0C97FB3-B51D-035C-C123-BC016D2DC110}"/>
              </a:ext>
            </a:extLst>
          </p:cNvPr>
          <p:cNvSpPr txBox="1"/>
          <p:nvPr/>
        </p:nvSpPr>
        <p:spPr>
          <a:xfrm>
            <a:off x="11064240" y="6473952"/>
            <a:ext cx="457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5D6B79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9E25AF8-2960-7631-8677-915908200F4B}"/>
              </a:ext>
            </a:extLst>
          </p:cNvPr>
          <p:cNvSpPr txBox="1"/>
          <p:nvPr/>
        </p:nvSpPr>
        <p:spPr>
          <a:xfrm>
            <a:off x="749808" y="1517904"/>
            <a:ext cx="676656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5D6B79"/>
                </a:solidFill>
                <a:latin typeface="Aptos" panose="020B0004020202020204" pitchFamily="34" charset="0"/>
              </a:rPr>
              <a:t>Registros por categoria na aba de resumo  •  276 linhas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2116C49-5195-C32F-E3F1-591F7769E6FD}"/>
              </a:ext>
            </a:extLst>
          </p:cNvPr>
          <p:cNvSpPr txBox="1"/>
          <p:nvPr/>
        </p:nvSpPr>
        <p:spPr>
          <a:xfrm>
            <a:off x="777240" y="1965960"/>
            <a:ext cx="1627632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 b="1">
                <a:solidFill>
                  <a:srgbClr val="1B2A3A"/>
                </a:solidFill>
                <a:latin typeface="Aptos" panose="020B0004020202020204" pitchFamily="34" charset="0"/>
              </a:rPr>
              <a:t>Delete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1BCB031-A329-9121-AE8B-EF5F17B1F715}"/>
              </a:ext>
            </a:extLst>
          </p:cNvPr>
          <p:cNvSpPr/>
          <p:nvPr/>
        </p:nvSpPr>
        <p:spPr>
          <a:xfrm>
            <a:off x="2487168" y="1938528"/>
            <a:ext cx="4297680" cy="292608"/>
          </a:xfrm>
          <a:prstGeom prst="rect">
            <a:avLst/>
          </a:prstGeom>
          <a:solidFill>
            <a:srgbClr val="E5EA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6E18E86-0F14-4B57-239C-940C75A56533}"/>
              </a:ext>
            </a:extLst>
          </p:cNvPr>
          <p:cNvSpPr/>
          <p:nvPr/>
        </p:nvSpPr>
        <p:spPr>
          <a:xfrm>
            <a:off x="2487168" y="1938528"/>
            <a:ext cx="4297680" cy="292608"/>
          </a:xfrm>
          <a:prstGeom prst="rect">
            <a:avLst/>
          </a:prstGeom>
          <a:solidFill>
            <a:srgbClr val="D7193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22EFF95-16EB-36E0-DAF6-3E311640A040}"/>
              </a:ext>
            </a:extLst>
          </p:cNvPr>
          <p:cNvSpPr txBox="1"/>
          <p:nvPr/>
        </p:nvSpPr>
        <p:spPr>
          <a:xfrm>
            <a:off x="6931152" y="1952244"/>
            <a:ext cx="54864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 b="1">
                <a:solidFill>
                  <a:srgbClr val="11253D"/>
                </a:solidFill>
                <a:latin typeface="Aptos" panose="020B0004020202020204" pitchFamily="34" charset="0"/>
              </a:rPr>
              <a:t>109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06A2D72-2594-6DF2-C308-3C1838820E03}"/>
              </a:ext>
            </a:extLst>
          </p:cNvPr>
          <p:cNvSpPr txBox="1"/>
          <p:nvPr/>
        </p:nvSpPr>
        <p:spPr>
          <a:xfrm>
            <a:off x="777240" y="2560320"/>
            <a:ext cx="1627632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 b="1">
                <a:solidFill>
                  <a:srgbClr val="1B2A3A"/>
                </a:solidFill>
                <a:latin typeface="Aptos" panose="020B0004020202020204" pitchFamily="34" charset="0"/>
              </a:rPr>
              <a:t>Provisionamento*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05333EE-B0BE-6150-2E70-A603A6955C49}"/>
              </a:ext>
            </a:extLst>
          </p:cNvPr>
          <p:cNvSpPr/>
          <p:nvPr/>
        </p:nvSpPr>
        <p:spPr>
          <a:xfrm>
            <a:off x="2487168" y="2532888"/>
            <a:ext cx="4297680" cy="292608"/>
          </a:xfrm>
          <a:prstGeom prst="rect">
            <a:avLst/>
          </a:prstGeom>
          <a:solidFill>
            <a:srgbClr val="E5EA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188D55AD-8B42-E791-F30B-CE6A9A238172}"/>
              </a:ext>
            </a:extLst>
          </p:cNvPr>
          <p:cNvSpPr/>
          <p:nvPr/>
        </p:nvSpPr>
        <p:spPr>
          <a:xfrm>
            <a:off x="2487168" y="2532888"/>
            <a:ext cx="2405124" cy="292608"/>
          </a:xfrm>
          <a:prstGeom prst="rect">
            <a:avLst/>
          </a:prstGeom>
          <a:solidFill>
            <a:srgbClr val="6680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88A03C7-FDEF-8D3C-128E-BC1CF1B3B5C6}"/>
              </a:ext>
            </a:extLst>
          </p:cNvPr>
          <p:cNvSpPr txBox="1"/>
          <p:nvPr/>
        </p:nvSpPr>
        <p:spPr>
          <a:xfrm>
            <a:off x="6931152" y="2546604"/>
            <a:ext cx="54864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 b="1">
                <a:solidFill>
                  <a:srgbClr val="11253D"/>
                </a:solidFill>
                <a:latin typeface="Aptos" panose="020B0004020202020204" pitchFamily="34" charset="0"/>
              </a:rPr>
              <a:t>61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618DF320-C280-7EE9-7C00-34A97D811B0A}"/>
              </a:ext>
            </a:extLst>
          </p:cNvPr>
          <p:cNvSpPr txBox="1"/>
          <p:nvPr/>
        </p:nvSpPr>
        <p:spPr>
          <a:xfrm>
            <a:off x="777240" y="3154680"/>
            <a:ext cx="1627632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 b="1">
                <a:solidFill>
                  <a:srgbClr val="1B2A3A"/>
                </a:solidFill>
                <a:latin typeface="Aptos" panose="020B0004020202020204" pitchFamily="34" charset="0"/>
              </a:rPr>
              <a:t>LZ AWS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19B98C7-ED65-BA03-EE6C-049516BACC3D}"/>
              </a:ext>
            </a:extLst>
          </p:cNvPr>
          <p:cNvSpPr/>
          <p:nvPr/>
        </p:nvSpPr>
        <p:spPr>
          <a:xfrm>
            <a:off x="2487168" y="3127248"/>
            <a:ext cx="4297680" cy="292608"/>
          </a:xfrm>
          <a:prstGeom prst="rect">
            <a:avLst/>
          </a:prstGeom>
          <a:solidFill>
            <a:srgbClr val="E5EA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B7C67F9A-963B-D8D7-F49F-0112CBAD5848}"/>
              </a:ext>
            </a:extLst>
          </p:cNvPr>
          <p:cNvSpPr/>
          <p:nvPr/>
        </p:nvSpPr>
        <p:spPr>
          <a:xfrm>
            <a:off x="2487168" y="3127248"/>
            <a:ext cx="2247410" cy="292608"/>
          </a:xfrm>
          <a:prstGeom prst="rect">
            <a:avLst/>
          </a:prstGeom>
          <a:solidFill>
            <a:srgbClr val="2A8F9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945A9EE-ED1D-4993-3982-3BD9CA6AD3FD}"/>
              </a:ext>
            </a:extLst>
          </p:cNvPr>
          <p:cNvSpPr txBox="1"/>
          <p:nvPr/>
        </p:nvSpPr>
        <p:spPr>
          <a:xfrm>
            <a:off x="6931152" y="3140964"/>
            <a:ext cx="54864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 b="1">
                <a:solidFill>
                  <a:srgbClr val="11253D"/>
                </a:solidFill>
                <a:latin typeface="Aptos" panose="020B0004020202020204" pitchFamily="34" charset="0"/>
              </a:rPr>
              <a:t>57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262DECA-80BC-3DAC-48A0-1C344E4595B7}"/>
              </a:ext>
            </a:extLst>
          </p:cNvPr>
          <p:cNvSpPr txBox="1"/>
          <p:nvPr/>
        </p:nvSpPr>
        <p:spPr>
          <a:xfrm>
            <a:off x="777240" y="3749040"/>
            <a:ext cx="1627632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 b="1">
                <a:solidFill>
                  <a:srgbClr val="1B2A3A"/>
                </a:solidFill>
                <a:latin typeface="Aptos" panose="020B0004020202020204" pitchFamily="34" charset="0"/>
              </a:rPr>
              <a:t>Validação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CF718711-BFE7-EDCF-52CA-BF26CD942BF7}"/>
              </a:ext>
            </a:extLst>
          </p:cNvPr>
          <p:cNvSpPr/>
          <p:nvPr/>
        </p:nvSpPr>
        <p:spPr>
          <a:xfrm>
            <a:off x="2487168" y="3721608"/>
            <a:ext cx="4297680" cy="292608"/>
          </a:xfrm>
          <a:prstGeom prst="rect">
            <a:avLst/>
          </a:prstGeom>
          <a:solidFill>
            <a:srgbClr val="E5EA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A1F6CC8B-DF85-D897-F3F0-2C78E8E58E6F}"/>
              </a:ext>
            </a:extLst>
          </p:cNvPr>
          <p:cNvSpPr/>
          <p:nvPr/>
        </p:nvSpPr>
        <p:spPr>
          <a:xfrm>
            <a:off x="2487168" y="3721608"/>
            <a:ext cx="1025135" cy="292608"/>
          </a:xfrm>
          <a:prstGeom prst="rect">
            <a:avLst/>
          </a:prstGeom>
          <a:solidFill>
            <a:srgbClr val="6680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A92A63F5-1605-8288-476E-1793585A8D47}"/>
              </a:ext>
            </a:extLst>
          </p:cNvPr>
          <p:cNvSpPr txBox="1"/>
          <p:nvPr/>
        </p:nvSpPr>
        <p:spPr>
          <a:xfrm>
            <a:off x="6931152" y="3735324"/>
            <a:ext cx="54864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 b="1">
                <a:solidFill>
                  <a:srgbClr val="11253D"/>
                </a:solidFill>
                <a:latin typeface="Aptos" panose="020B0004020202020204" pitchFamily="34" charset="0"/>
              </a:rPr>
              <a:t>26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82534E4-7868-30DC-1BB5-7F0732189894}"/>
              </a:ext>
            </a:extLst>
          </p:cNvPr>
          <p:cNvSpPr txBox="1"/>
          <p:nvPr/>
        </p:nvSpPr>
        <p:spPr>
          <a:xfrm>
            <a:off x="777240" y="4343400"/>
            <a:ext cx="1627632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 b="1">
                <a:solidFill>
                  <a:srgbClr val="1B2A3A"/>
                </a:solidFill>
                <a:latin typeface="Aptos" panose="020B0004020202020204" pitchFamily="34" charset="0"/>
              </a:rPr>
              <a:t>Edição*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1519B341-F3F3-CED2-D4A1-F327CEF72B0A}"/>
              </a:ext>
            </a:extLst>
          </p:cNvPr>
          <p:cNvSpPr/>
          <p:nvPr/>
        </p:nvSpPr>
        <p:spPr>
          <a:xfrm>
            <a:off x="2487168" y="4315968"/>
            <a:ext cx="4297680" cy="292608"/>
          </a:xfrm>
          <a:prstGeom prst="rect">
            <a:avLst/>
          </a:prstGeom>
          <a:solidFill>
            <a:srgbClr val="E5EA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05AD71B3-2828-B3D7-31A8-9C3B54E391E0}"/>
              </a:ext>
            </a:extLst>
          </p:cNvPr>
          <p:cNvSpPr/>
          <p:nvPr/>
        </p:nvSpPr>
        <p:spPr>
          <a:xfrm>
            <a:off x="2487168" y="4315968"/>
            <a:ext cx="709709" cy="292608"/>
          </a:xfrm>
          <a:prstGeom prst="rect">
            <a:avLst/>
          </a:prstGeom>
          <a:solidFill>
            <a:srgbClr val="6680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4DBC2E7A-C040-4954-8C46-B6A7E19AFB7A}"/>
              </a:ext>
            </a:extLst>
          </p:cNvPr>
          <p:cNvSpPr txBox="1"/>
          <p:nvPr/>
        </p:nvSpPr>
        <p:spPr>
          <a:xfrm>
            <a:off x="6931152" y="4329684"/>
            <a:ext cx="54864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 b="1">
                <a:solidFill>
                  <a:srgbClr val="11253D"/>
                </a:solidFill>
                <a:latin typeface="Aptos" panose="020B0004020202020204" pitchFamily="34" charset="0"/>
              </a:rPr>
              <a:t>18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DF05C1AE-7AA4-4AD3-82DD-95408F0C8E10}"/>
              </a:ext>
            </a:extLst>
          </p:cNvPr>
          <p:cNvSpPr txBox="1"/>
          <p:nvPr/>
        </p:nvSpPr>
        <p:spPr>
          <a:xfrm>
            <a:off x="777240" y="4937760"/>
            <a:ext cx="1627632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 b="1">
                <a:solidFill>
                  <a:srgbClr val="1B2A3A"/>
                </a:solidFill>
                <a:latin typeface="Aptos" panose="020B0004020202020204" pitchFamily="34" charset="0"/>
              </a:rPr>
              <a:t>Outros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A4ADCBE5-AA1E-7F2B-2592-3FB1B9163874}"/>
              </a:ext>
            </a:extLst>
          </p:cNvPr>
          <p:cNvSpPr/>
          <p:nvPr/>
        </p:nvSpPr>
        <p:spPr>
          <a:xfrm>
            <a:off x="2487168" y="4910328"/>
            <a:ext cx="4297680" cy="292608"/>
          </a:xfrm>
          <a:prstGeom prst="rect">
            <a:avLst/>
          </a:prstGeom>
          <a:solidFill>
            <a:srgbClr val="E5EA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751878E4-C08F-C435-26FB-EBA63561B364}"/>
              </a:ext>
            </a:extLst>
          </p:cNvPr>
          <p:cNvSpPr/>
          <p:nvPr/>
        </p:nvSpPr>
        <p:spPr>
          <a:xfrm>
            <a:off x="2487168" y="4910328"/>
            <a:ext cx="197141" cy="292608"/>
          </a:xfrm>
          <a:prstGeom prst="rect">
            <a:avLst/>
          </a:prstGeom>
          <a:solidFill>
            <a:srgbClr val="6680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3B7AC31C-AC59-9B64-F79E-991526C193BF}"/>
              </a:ext>
            </a:extLst>
          </p:cNvPr>
          <p:cNvSpPr txBox="1"/>
          <p:nvPr/>
        </p:nvSpPr>
        <p:spPr>
          <a:xfrm>
            <a:off x="6931152" y="4924044"/>
            <a:ext cx="54864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 b="1">
                <a:solidFill>
                  <a:srgbClr val="11253D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DF923149-0235-94A5-C60A-BD52457EC191}"/>
              </a:ext>
            </a:extLst>
          </p:cNvPr>
          <p:cNvSpPr/>
          <p:nvPr/>
        </p:nvSpPr>
        <p:spPr>
          <a:xfrm>
            <a:off x="7818120" y="1783080"/>
            <a:ext cx="3611880" cy="3364992"/>
          </a:xfrm>
          <a:prstGeom prst="rect">
            <a:avLst/>
          </a:prstGeom>
          <a:solidFill>
            <a:srgbClr val="1125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20A4D4A7-23FB-E4EB-D29D-490DB8124F94}"/>
              </a:ext>
            </a:extLst>
          </p:cNvPr>
          <p:cNvSpPr txBox="1"/>
          <p:nvPr/>
        </p:nvSpPr>
        <p:spPr>
          <a:xfrm>
            <a:off x="8119872" y="2084832"/>
            <a:ext cx="29718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FFFFFF"/>
                </a:solidFill>
                <a:latin typeface="Aptos" panose="020B0004020202020204" pitchFamily="34" charset="0"/>
              </a:rPr>
              <a:t>O que se destaca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B4841150-C42B-F8C6-52A8-F75E82CDFC1B}"/>
              </a:ext>
            </a:extLst>
          </p:cNvPr>
          <p:cNvSpPr txBox="1"/>
          <p:nvPr/>
        </p:nvSpPr>
        <p:spPr>
          <a:xfrm>
            <a:off x="8119872" y="2670048"/>
            <a:ext cx="2926080" cy="6482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E6EDF3"/>
                </a:solidFill>
                <a:latin typeface="Aptos" panose="020B0004020202020204" pitchFamily="34" charset="0"/>
              </a:rPr>
              <a:t>Delete é a maior fatia; Provisionamento e LZ AWS também têm presença expressiva.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7B24D223-3624-57F6-7B96-E7518D2E2C7E}"/>
              </a:ext>
            </a:extLst>
          </p:cNvPr>
          <p:cNvSpPr txBox="1"/>
          <p:nvPr/>
        </p:nvSpPr>
        <p:spPr>
          <a:xfrm>
            <a:off x="8119872" y="3657600"/>
            <a:ext cx="292608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C2D0DC"/>
                </a:solidFill>
                <a:latin typeface="Aptos" panose="020B0004020202020204" pitchFamily="34" charset="0"/>
              </a:rPr>
              <a:t>192 CHGs distintos no resumo. Alguns IDs aparecem em mais de uma categoria: a distribuição acima é por registro, não por change único.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43B0762-81EE-FB7D-9BE5-19C23DBF6AE1}"/>
              </a:ext>
            </a:extLst>
          </p:cNvPr>
          <p:cNvSpPr txBox="1"/>
          <p:nvPr/>
        </p:nvSpPr>
        <p:spPr>
          <a:xfrm>
            <a:off x="768096" y="5724144"/>
            <a:ext cx="1078992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>
                <a:solidFill>
                  <a:srgbClr val="5D6B79"/>
                </a:solidFill>
                <a:latin typeface="Aptos" panose="020B0004020202020204" pitchFamily="34" charset="0"/>
              </a:rPr>
              <a:t>* Rótulos semelhantes foram agrupados (incluindo “PPROVISIONAMENTO” e variações de Edição). “Outros” reúne acompanhamento, incidente e descomissionamento.</a:t>
            </a:r>
          </a:p>
        </p:txBody>
      </p:sp>
    </p:spTree>
    <p:extLst>
      <p:ext uri="{BB962C8B-B14F-4D97-AF65-F5344CB8AC3E}">
        <p14:creationId xmlns:p14="http://schemas.microsoft.com/office/powerpoint/2010/main" val="2052745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308FD84-CD0B-AB66-5133-14137F30A900}"/>
              </a:ext>
            </a:extLst>
          </p:cNvPr>
          <p:cNvSpPr txBox="1"/>
          <p:nvPr/>
        </p:nvSpPr>
        <p:spPr>
          <a:xfrm>
            <a:off x="658368" y="329184"/>
            <a:ext cx="914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D7193F"/>
                </a:solidFill>
                <a:latin typeface="Aptos" panose="020B0004020202020204" pitchFamily="34" charset="0"/>
              </a:rPr>
              <a:t>03  |  RITMO E ETAPAS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7318A56-2159-A9C0-C2A4-ABB9C0333661}"/>
              </a:ext>
            </a:extLst>
          </p:cNvPr>
          <p:cNvSpPr txBox="1"/>
          <p:nvPr/>
        </p:nvSpPr>
        <p:spPr>
          <a:xfrm>
            <a:off x="658368" y="658368"/>
            <a:ext cx="109728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700" b="1">
                <a:solidFill>
                  <a:srgbClr val="11253D"/>
                </a:solidFill>
                <a:latin typeface="Aptos" panose="020B0004020202020204" pitchFamily="34" charset="0"/>
              </a:rPr>
              <a:t>Do ciclo planejado ao acompanhamento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33B1454-BA01-927D-DBF4-5205419D1232}"/>
              </a:ext>
            </a:extLst>
          </p:cNvPr>
          <p:cNvSpPr/>
          <p:nvPr/>
        </p:nvSpPr>
        <p:spPr>
          <a:xfrm>
            <a:off x="658368" y="1307592"/>
            <a:ext cx="10881360" cy="13716"/>
          </a:xfrm>
          <a:prstGeom prst="rect">
            <a:avLst/>
          </a:prstGeom>
          <a:solidFill>
            <a:srgbClr val="E8EE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02015EE-E7CE-F8F5-E129-B409355DDB79}"/>
              </a:ext>
            </a:extLst>
          </p:cNvPr>
          <p:cNvSpPr txBox="1"/>
          <p:nvPr/>
        </p:nvSpPr>
        <p:spPr>
          <a:xfrm>
            <a:off x="658368" y="6510528"/>
            <a:ext cx="8229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5D6B79"/>
                </a:solidFill>
                <a:latin typeface="Aptos" panose="020B0004020202020204" pitchFamily="34" charset="0"/>
              </a:rPr>
              <a:t>FELIPE GOMIDE  |  RESULTADOS &amp; PDI  |  RASCUNHO PARA DISCUSSÃO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EC3C2DA-97C8-9DAA-8553-46AB412F0830}"/>
              </a:ext>
            </a:extLst>
          </p:cNvPr>
          <p:cNvSpPr txBox="1"/>
          <p:nvPr/>
        </p:nvSpPr>
        <p:spPr>
          <a:xfrm>
            <a:off x="11064240" y="6473952"/>
            <a:ext cx="457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5D6B79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AAC2E73-E54D-54FB-FE11-D5EF464978C4}"/>
              </a:ext>
            </a:extLst>
          </p:cNvPr>
          <p:cNvSpPr txBox="1"/>
          <p:nvPr/>
        </p:nvSpPr>
        <p:spPr>
          <a:xfrm>
            <a:off x="768096" y="1545336"/>
            <a:ext cx="5486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5D6B79"/>
                </a:solidFill>
                <a:latin typeface="Aptos" panose="020B0004020202020204" pitchFamily="34" charset="0"/>
              </a:rPr>
              <a:t>Tarefas atribuídas: composição por etapa (n = 250)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EA99820-D8F3-3569-8CD4-98EA06ED5144}"/>
              </a:ext>
            </a:extLst>
          </p:cNvPr>
          <p:cNvSpPr txBox="1"/>
          <p:nvPr/>
        </p:nvSpPr>
        <p:spPr>
          <a:xfrm>
            <a:off x="822960" y="2002536"/>
            <a:ext cx="1517904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>
                <a:solidFill>
                  <a:srgbClr val="1B2A3A"/>
                </a:solidFill>
                <a:latin typeface="Aptos" panose="020B0004020202020204" pitchFamily="34" charset="0"/>
              </a:rPr>
              <a:t>Implementação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6326FF1-8A83-4F0D-1243-EAC74374A067}"/>
              </a:ext>
            </a:extLst>
          </p:cNvPr>
          <p:cNvSpPr/>
          <p:nvPr/>
        </p:nvSpPr>
        <p:spPr>
          <a:xfrm>
            <a:off x="2395728" y="1984248"/>
            <a:ext cx="2926080" cy="283464"/>
          </a:xfrm>
          <a:prstGeom prst="rect">
            <a:avLst/>
          </a:prstGeom>
          <a:solidFill>
            <a:srgbClr val="E5EA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CBBF7D3-7226-B39B-39FA-CB95BC9F61A3}"/>
              </a:ext>
            </a:extLst>
          </p:cNvPr>
          <p:cNvSpPr/>
          <p:nvPr/>
        </p:nvSpPr>
        <p:spPr>
          <a:xfrm>
            <a:off x="2395728" y="1984248"/>
            <a:ext cx="2926080" cy="283464"/>
          </a:xfrm>
          <a:prstGeom prst="rect">
            <a:avLst/>
          </a:prstGeom>
          <a:solidFill>
            <a:srgbClr val="D7193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7CD045E-0EEF-2144-5584-2C9D01EA2457}"/>
              </a:ext>
            </a:extLst>
          </p:cNvPr>
          <p:cNvSpPr txBox="1"/>
          <p:nvPr/>
        </p:nvSpPr>
        <p:spPr>
          <a:xfrm>
            <a:off x="5458968" y="1997964"/>
            <a:ext cx="64008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>
                <a:solidFill>
                  <a:srgbClr val="11253D"/>
                </a:solidFill>
                <a:latin typeface="Aptos" panose="020B0004020202020204" pitchFamily="34" charset="0"/>
              </a:rPr>
              <a:t>141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3083D03-BC05-2F93-EF21-70C27CD6B6D1}"/>
              </a:ext>
            </a:extLst>
          </p:cNvPr>
          <p:cNvSpPr txBox="1"/>
          <p:nvPr/>
        </p:nvSpPr>
        <p:spPr>
          <a:xfrm>
            <a:off x="822960" y="2532888"/>
            <a:ext cx="1517904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>
                <a:solidFill>
                  <a:srgbClr val="1B2A3A"/>
                </a:solidFill>
                <a:latin typeface="Aptos" panose="020B0004020202020204" pitchFamily="34" charset="0"/>
              </a:rPr>
              <a:t>Retorno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442BD25A-D607-2D9F-EB46-C8F3E901FCCF}"/>
              </a:ext>
            </a:extLst>
          </p:cNvPr>
          <p:cNvSpPr/>
          <p:nvPr/>
        </p:nvSpPr>
        <p:spPr>
          <a:xfrm>
            <a:off x="2395728" y="2514600"/>
            <a:ext cx="2926080" cy="283464"/>
          </a:xfrm>
          <a:prstGeom prst="rect">
            <a:avLst/>
          </a:prstGeom>
          <a:solidFill>
            <a:srgbClr val="E5EA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8BD26F8-FAED-0DC6-2587-D25A31469D99}"/>
              </a:ext>
            </a:extLst>
          </p:cNvPr>
          <p:cNvSpPr/>
          <p:nvPr/>
        </p:nvSpPr>
        <p:spPr>
          <a:xfrm>
            <a:off x="2395728" y="2514600"/>
            <a:ext cx="1867711" cy="283464"/>
          </a:xfrm>
          <a:prstGeom prst="rect">
            <a:avLst/>
          </a:prstGeom>
          <a:solidFill>
            <a:srgbClr val="2A8F9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B056552-60C1-1E13-D36E-51A2F6E298F5}"/>
              </a:ext>
            </a:extLst>
          </p:cNvPr>
          <p:cNvSpPr txBox="1"/>
          <p:nvPr/>
        </p:nvSpPr>
        <p:spPr>
          <a:xfrm>
            <a:off x="5458968" y="2528316"/>
            <a:ext cx="64008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>
                <a:solidFill>
                  <a:srgbClr val="11253D"/>
                </a:solidFill>
                <a:latin typeface="Aptos" panose="020B0004020202020204" pitchFamily="34" charset="0"/>
              </a:rPr>
              <a:t>90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1DD607F-2A23-C8FF-5BCD-82006017FB5F}"/>
              </a:ext>
            </a:extLst>
          </p:cNvPr>
          <p:cNvSpPr txBox="1"/>
          <p:nvPr/>
        </p:nvSpPr>
        <p:spPr>
          <a:xfrm>
            <a:off x="822960" y="3063240"/>
            <a:ext cx="1517904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>
                <a:solidFill>
                  <a:srgbClr val="1B2A3A"/>
                </a:solidFill>
                <a:latin typeface="Aptos" panose="020B0004020202020204" pitchFamily="34" charset="0"/>
              </a:rPr>
              <a:t>Validação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5061C0D1-D7D5-7034-6CCA-7E6D7E6DACAB}"/>
              </a:ext>
            </a:extLst>
          </p:cNvPr>
          <p:cNvSpPr/>
          <p:nvPr/>
        </p:nvSpPr>
        <p:spPr>
          <a:xfrm>
            <a:off x="2395728" y="3044952"/>
            <a:ext cx="2926080" cy="283464"/>
          </a:xfrm>
          <a:prstGeom prst="rect">
            <a:avLst/>
          </a:prstGeom>
          <a:solidFill>
            <a:srgbClr val="E5EA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5ECBD98B-1539-0614-7A71-8D8391E8E671}"/>
              </a:ext>
            </a:extLst>
          </p:cNvPr>
          <p:cNvSpPr/>
          <p:nvPr/>
        </p:nvSpPr>
        <p:spPr>
          <a:xfrm>
            <a:off x="2395728" y="3044952"/>
            <a:ext cx="394295" cy="283464"/>
          </a:xfrm>
          <a:prstGeom prst="rect">
            <a:avLst/>
          </a:prstGeom>
          <a:solidFill>
            <a:srgbClr val="F0B4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73DCF08-8331-A737-0397-ADF1ED207F3D}"/>
              </a:ext>
            </a:extLst>
          </p:cNvPr>
          <p:cNvSpPr txBox="1"/>
          <p:nvPr/>
        </p:nvSpPr>
        <p:spPr>
          <a:xfrm>
            <a:off x="5458968" y="3058668"/>
            <a:ext cx="64008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>
                <a:solidFill>
                  <a:srgbClr val="11253D"/>
                </a:solidFill>
                <a:latin typeface="Aptos" panose="020B0004020202020204" pitchFamily="34" charset="0"/>
              </a:rPr>
              <a:t>19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9A2CDE26-6EC1-9DDF-C04F-10587C051118}"/>
              </a:ext>
            </a:extLst>
          </p:cNvPr>
          <p:cNvSpPr/>
          <p:nvPr/>
        </p:nvSpPr>
        <p:spPr>
          <a:xfrm>
            <a:off x="786384" y="3767328"/>
            <a:ext cx="5449824" cy="132588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7DBDB9A3-21EC-2ACF-0A68-494F775DAC5A}"/>
              </a:ext>
            </a:extLst>
          </p:cNvPr>
          <p:cNvSpPr txBox="1"/>
          <p:nvPr/>
        </p:nvSpPr>
        <p:spPr>
          <a:xfrm>
            <a:off x="1024128" y="3995928"/>
            <a:ext cx="493776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1B2A3A"/>
                </a:solidFill>
                <a:latin typeface="Aptos" panose="020B0004020202020204" pitchFamily="34" charset="0"/>
              </a:rPr>
              <a:t>Maior volume mensal: 33 CHGs únicos em jul/2026. A série usa a primeira data planejada associada a cada CHG atribuído.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B614BD7E-1703-3C6D-C980-D8E50E371863}"/>
              </a:ext>
            </a:extLst>
          </p:cNvPr>
          <p:cNvSpPr txBox="1"/>
          <p:nvPr/>
        </p:nvSpPr>
        <p:spPr>
          <a:xfrm>
            <a:off x="6675120" y="1545336"/>
            <a:ext cx="484632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5D6B79"/>
                </a:solidFill>
                <a:latin typeface="Aptos" panose="020B0004020202020204" pitchFamily="34" charset="0"/>
              </a:rPr>
              <a:t>CHGs únicos por mês da data planejada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58712992-3045-D4CA-F089-A20D36E3D5D7}"/>
              </a:ext>
            </a:extLst>
          </p:cNvPr>
          <p:cNvSpPr/>
          <p:nvPr/>
        </p:nvSpPr>
        <p:spPr>
          <a:xfrm>
            <a:off x="6812280" y="4404360"/>
            <a:ext cx="256032" cy="533400"/>
          </a:xfrm>
          <a:prstGeom prst="rect">
            <a:avLst/>
          </a:prstGeom>
          <a:solidFill>
            <a:srgbClr val="2A8F9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626B14AC-D20D-0E73-C67C-E7C537A46333}"/>
              </a:ext>
            </a:extLst>
          </p:cNvPr>
          <p:cNvSpPr txBox="1"/>
          <p:nvPr/>
        </p:nvSpPr>
        <p:spPr>
          <a:xfrm>
            <a:off x="6739128" y="5010912"/>
            <a:ext cx="420624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5D6B79"/>
                </a:solidFill>
                <a:latin typeface="Aptos" panose="020B0004020202020204" pitchFamily="34" charset="0"/>
              </a:rPr>
              <a:t>Out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FBBD328F-0E45-4F69-A55B-623D4AB3B9DF}"/>
              </a:ext>
            </a:extLst>
          </p:cNvPr>
          <p:cNvSpPr/>
          <p:nvPr/>
        </p:nvSpPr>
        <p:spPr>
          <a:xfrm>
            <a:off x="7168896" y="3566160"/>
            <a:ext cx="256031" cy="1371600"/>
          </a:xfrm>
          <a:prstGeom prst="rect">
            <a:avLst/>
          </a:prstGeom>
          <a:solidFill>
            <a:srgbClr val="2A8F9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96FA6BF1-7C15-9772-28AB-5ED1B7E0BE50}"/>
              </a:ext>
            </a:extLst>
          </p:cNvPr>
          <p:cNvSpPr txBox="1"/>
          <p:nvPr/>
        </p:nvSpPr>
        <p:spPr>
          <a:xfrm>
            <a:off x="7095744" y="5010912"/>
            <a:ext cx="420624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5D6B79"/>
                </a:solidFill>
                <a:latin typeface="Aptos" panose="020B0004020202020204" pitchFamily="34" charset="0"/>
              </a:rPr>
              <a:t>Nov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A659A647-B032-CD89-F51A-AB98A8048EE2}"/>
              </a:ext>
            </a:extLst>
          </p:cNvPr>
          <p:cNvSpPr/>
          <p:nvPr/>
        </p:nvSpPr>
        <p:spPr>
          <a:xfrm>
            <a:off x="7525512" y="4861560"/>
            <a:ext cx="256032" cy="76200"/>
          </a:xfrm>
          <a:prstGeom prst="rect">
            <a:avLst/>
          </a:prstGeom>
          <a:solidFill>
            <a:srgbClr val="2A8F9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3BEEDD5B-82AC-74A2-A136-A2EA142641EC}"/>
              </a:ext>
            </a:extLst>
          </p:cNvPr>
          <p:cNvSpPr txBox="1"/>
          <p:nvPr/>
        </p:nvSpPr>
        <p:spPr>
          <a:xfrm>
            <a:off x="7452360" y="5010912"/>
            <a:ext cx="420624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5D6B79"/>
                </a:solidFill>
                <a:latin typeface="Aptos" panose="020B0004020202020204" pitchFamily="34" charset="0"/>
              </a:rPr>
              <a:t>Dez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139E01B3-A623-652C-5190-97B1C29A3216}"/>
              </a:ext>
            </a:extLst>
          </p:cNvPr>
          <p:cNvSpPr/>
          <p:nvPr/>
        </p:nvSpPr>
        <p:spPr>
          <a:xfrm>
            <a:off x="7882128" y="4023360"/>
            <a:ext cx="256032" cy="914400"/>
          </a:xfrm>
          <a:prstGeom prst="rect">
            <a:avLst/>
          </a:prstGeom>
          <a:solidFill>
            <a:srgbClr val="2A8F9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D4E5C83B-3A27-8B9F-C4FE-C57C8C676347}"/>
              </a:ext>
            </a:extLst>
          </p:cNvPr>
          <p:cNvSpPr txBox="1"/>
          <p:nvPr/>
        </p:nvSpPr>
        <p:spPr>
          <a:xfrm>
            <a:off x="7808976" y="5010912"/>
            <a:ext cx="420624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5D6B79"/>
                </a:solidFill>
                <a:latin typeface="Aptos" panose="020B0004020202020204" pitchFamily="34" charset="0"/>
              </a:rPr>
              <a:t>Jan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C30BD78C-368E-4F80-D6F8-9D76F42936C2}"/>
              </a:ext>
            </a:extLst>
          </p:cNvPr>
          <p:cNvSpPr/>
          <p:nvPr/>
        </p:nvSpPr>
        <p:spPr>
          <a:xfrm>
            <a:off x="8238744" y="4480560"/>
            <a:ext cx="256031" cy="457200"/>
          </a:xfrm>
          <a:prstGeom prst="rect">
            <a:avLst/>
          </a:prstGeom>
          <a:solidFill>
            <a:srgbClr val="2A8F9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C49C8567-FC48-37B0-8A17-EB2B55381F17}"/>
              </a:ext>
            </a:extLst>
          </p:cNvPr>
          <p:cNvSpPr txBox="1"/>
          <p:nvPr/>
        </p:nvSpPr>
        <p:spPr>
          <a:xfrm>
            <a:off x="8165592" y="5010912"/>
            <a:ext cx="420624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5D6B79"/>
                </a:solidFill>
                <a:latin typeface="Aptos" panose="020B0004020202020204" pitchFamily="34" charset="0"/>
              </a:rPr>
              <a:t>Fev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CA656683-1C69-4629-B2AE-DD83C8AB0FD6}"/>
              </a:ext>
            </a:extLst>
          </p:cNvPr>
          <p:cNvSpPr/>
          <p:nvPr/>
        </p:nvSpPr>
        <p:spPr>
          <a:xfrm>
            <a:off x="8595360" y="4023360"/>
            <a:ext cx="256032" cy="914400"/>
          </a:xfrm>
          <a:prstGeom prst="rect">
            <a:avLst/>
          </a:prstGeom>
          <a:solidFill>
            <a:srgbClr val="2A8F9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11FE0065-F470-A5ED-88E1-433953F7EE00}"/>
              </a:ext>
            </a:extLst>
          </p:cNvPr>
          <p:cNvSpPr txBox="1"/>
          <p:nvPr/>
        </p:nvSpPr>
        <p:spPr>
          <a:xfrm>
            <a:off x="8522208" y="5010912"/>
            <a:ext cx="420624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5D6B79"/>
                </a:solidFill>
                <a:latin typeface="Aptos" panose="020B0004020202020204" pitchFamily="34" charset="0"/>
              </a:rPr>
              <a:t>Mar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D0B1DB53-021C-7399-8772-C95075EEB0C1}"/>
              </a:ext>
            </a:extLst>
          </p:cNvPr>
          <p:cNvSpPr/>
          <p:nvPr/>
        </p:nvSpPr>
        <p:spPr>
          <a:xfrm>
            <a:off x="8951976" y="4556760"/>
            <a:ext cx="256032" cy="381000"/>
          </a:xfrm>
          <a:prstGeom prst="rect">
            <a:avLst/>
          </a:prstGeom>
          <a:solidFill>
            <a:srgbClr val="2A8F9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42374566-A10E-62F5-55D7-23D5F6F416A8}"/>
              </a:ext>
            </a:extLst>
          </p:cNvPr>
          <p:cNvSpPr txBox="1"/>
          <p:nvPr/>
        </p:nvSpPr>
        <p:spPr>
          <a:xfrm>
            <a:off x="8878824" y="5010912"/>
            <a:ext cx="420624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5D6B79"/>
                </a:solidFill>
                <a:latin typeface="Aptos" panose="020B0004020202020204" pitchFamily="34" charset="0"/>
              </a:rPr>
              <a:t>Abr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B63441BE-12BF-1F95-24FF-8C1127C2E5FB}"/>
              </a:ext>
            </a:extLst>
          </p:cNvPr>
          <p:cNvSpPr txBox="1"/>
          <p:nvPr/>
        </p:nvSpPr>
        <p:spPr>
          <a:xfrm>
            <a:off x="9235440" y="5010912"/>
            <a:ext cx="420624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5D6B79"/>
                </a:solidFill>
                <a:latin typeface="Aptos" panose="020B0004020202020204" pitchFamily="34" charset="0"/>
              </a:rPr>
              <a:t>Mai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BD3E4D06-7488-E9C3-B3A7-D1C3BB2E99FC}"/>
              </a:ext>
            </a:extLst>
          </p:cNvPr>
          <p:cNvSpPr/>
          <p:nvPr/>
        </p:nvSpPr>
        <p:spPr>
          <a:xfrm>
            <a:off x="9665208" y="2956560"/>
            <a:ext cx="256031" cy="1981200"/>
          </a:xfrm>
          <a:prstGeom prst="rect">
            <a:avLst/>
          </a:prstGeom>
          <a:solidFill>
            <a:srgbClr val="2A8F9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7DB5BBDD-0286-56AF-0599-046F625A3577}"/>
              </a:ext>
            </a:extLst>
          </p:cNvPr>
          <p:cNvSpPr txBox="1"/>
          <p:nvPr/>
        </p:nvSpPr>
        <p:spPr>
          <a:xfrm>
            <a:off x="9592056" y="5010912"/>
            <a:ext cx="420624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5D6B79"/>
                </a:solidFill>
                <a:latin typeface="Aptos" panose="020B0004020202020204" pitchFamily="34" charset="0"/>
              </a:rPr>
              <a:t>Jun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EFD4539D-C385-75BC-993B-A7AF8F0AF494}"/>
              </a:ext>
            </a:extLst>
          </p:cNvPr>
          <p:cNvSpPr/>
          <p:nvPr/>
        </p:nvSpPr>
        <p:spPr>
          <a:xfrm>
            <a:off x="10021824" y="2423160"/>
            <a:ext cx="256032" cy="2514600"/>
          </a:xfrm>
          <a:prstGeom prst="rect">
            <a:avLst/>
          </a:prstGeom>
          <a:solidFill>
            <a:srgbClr val="D7193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3A1B6C68-EBF5-296E-6B98-6B14FE82DD12}"/>
              </a:ext>
            </a:extLst>
          </p:cNvPr>
          <p:cNvSpPr txBox="1"/>
          <p:nvPr/>
        </p:nvSpPr>
        <p:spPr>
          <a:xfrm>
            <a:off x="9948672" y="5010912"/>
            <a:ext cx="420624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5D6B79"/>
                </a:solidFill>
                <a:latin typeface="Aptos" panose="020B0004020202020204" pitchFamily="34" charset="0"/>
              </a:rPr>
              <a:t>Jul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0F921DB1-3023-C080-C23B-1972867F96C9}"/>
              </a:ext>
            </a:extLst>
          </p:cNvPr>
          <p:cNvSpPr txBox="1"/>
          <p:nvPr/>
        </p:nvSpPr>
        <p:spPr>
          <a:xfrm>
            <a:off x="9994392" y="2157984"/>
            <a:ext cx="457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 b="1">
                <a:solidFill>
                  <a:srgbClr val="D7193F"/>
                </a:solidFill>
                <a:latin typeface="Aptos" panose="020B0004020202020204" pitchFamily="34" charset="0"/>
              </a:rPr>
              <a:t>33</a:t>
            </a:r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6FA84BA5-F0FC-7D19-98E1-A68470594320}"/>
              </a:ext>
            </a:extLst>
          </p:cNvPr>
          <p:cNvSpPr/>
          <p:nvPr/>
        </p:nvSpPr>
        <p:spPr>
          <a:xfrm>
            <a:off x="10378440" y="3642360"/>
            <a:ext cx="256032" cy="1295400"/>
          </a:xfrm>
          <a:prstGeom prst="rect">
            <a:avLst/>
          </a:prstGeom>
          <a:solidFill>
            <a:srgbClr val="2A8F9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011FC420-C50F-7F34-5813-C92957661DB0}"/>
              </a:ext>
            </a:extLst>
          </p:cNvPr>
          <p:cNvSpPr txBox="1"/>
          <p:nvPr/>
        </p:nvSpPr>
        <p:spPr>
          <a:xfrm>
            <a:off x="10305288" y="5010912"/>
            <a:ext cx="420624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5D6B79"/>
                </a:solidFill>
                <a:latin typeface="Aptos" panose="020B0004020202020204" pitchFamily="34" charset="0"/>
              </a:rPr>
              <a:t>Ago</a:t>
            </a: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1BC1E067-9F70-6025-D488-6F8769674609}"/>
              </a:ext>
            </a:extLst>
          </p:cNvPr>
          <p:cNvSpPr/>
          <p:nvPr/>
        </p:nvSpPr>
        <p:spPr>
          <a:xfrm>
            <a:off x="10735056" y="3566160"/>
            <a:ext cx="256032" cy="1371600"/>
          </a:xfrm>
          <a:prstGeom prst="rect">
            <a:avLst/>
          </a:prstGeom>
          <a:solidFill>
            <a:srgbClr val="2A8F9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BB76879C-5112-F542-14BF-62F076541DAF}"/>
              </a:ext>
            </a:extLst>
          </p:cNvPr>
          <p:cNvSpPr txBox="1"/>
          <p:nvPr/>
        </p:nvSpPr>
        <p:spPr>
          <a:xfrm>
            <a:off x="10661904" y="5010912"/>
            <a:ext cx="420624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5D6B79"/>
                </a:solidFill>
                <a:latin typeface="Aptos" panose="020B0004020202020204" pitchFamily="34" charset="0"/>
              </a:rPr>
              <a:t>Set</a:t>
            </a: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285679AE-B849-8312-1915-B3512529B5FE}"/>
              </a:ext>
            </a:extLst>
          </p:cNvPr>
          <p:cNvSpPr/>
          <p:nvPr/>
        </p:nvSpPr>
        <p:spPr>
          <a:xfrm>
            <a:off x="11091672" y="4785360"/>
            <a:ext cx="256031" cy="152400"/>
          </a:xfrm>
          <a:prstGeom prst="rect">
            <a:avLst/>
          </a:prstGeom>
          <a:solidFill>
            <a:srgbClr val="2A8F9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BBD29658-DA68-E6E4-1F28-0A4001D7AB95}"/>
              </a:ext>
            </a:extLst>
          </p:cNvPr>
          <p:cNvSpPr txBox="1"/>
          <p:nvPr/>
        </p:nvSpPr>
        <p:spPr>
          <a:xfrm>
            <a:off x="11018520" y="5010912"/>
            <a:ext cx="420624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5D6B79"/>
                </a:solidFill>
                <a:latin typeface="Aptos" panose="020B0004020202020204" pitchFamily="34" charset="0"/>
              </a:rPr>
              <a:t>Out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66CEA44F-6C07-5A59-2E89-8D25F864E236}"/>
              </a:ext>
            </a:extLst>
          </p:cNvPr>
          <p:cNvSpPr txBox="1"/>
          <p:nvPr/>
        </p:nvSpPr>
        <p:spPr>
          <a:xfrm>
            <a:off x="6784848" y="5404104"/>
            <a:ext cx="475488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5D6B79"/>
                </a:solidFill>
                <a:latin typeface="Aptos" panose="020B0004020202020204" pitchFamily="34" charset="0"/>
              </a:rPr>
              <a:t>Out/25 → Out/26  •  Mai/26 sem registros na série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07823A0C-ED78-B2F4-8659-D365253A98CD}"/>
              </a:ext>
            </a:extLst>
          </p:cNvPr>
          <p:cNvSpPr txBox="1"/>
          <p:nvPr/>
        </p:nvSpPr>
        <p:spPr>
          <a:xfrm>
            <a:off x="786384" y="5806440"/>
            <a:ext cx="1078992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>
                <a:solidFill>
                  <a:srgbClr val="5D6B79"/>
                </a:solidFill>
                <a:latin typeface="Aptos" panose="020B0004020202020204" pitchFamily="34" charset="0"/>
              </a:rPr>
              <a:t>Leitura: os registros cobrem implementação, retorno e validação; o gráfico mostra distribuição de volume, não duração nem complexidade.</a:t>
            </a:r>
          </a:p>
        </p:txBody>
      </p:sp>
    </p:spTree>
    <p:extLst>
      <p:ext uri="{BB962C8B-B14F-4D97-AF65-F5344CB8AC3E}">
        <p14:creationId xmlns:p14="http://schemas.microsoft.com/office/powerpoint/2010/main" val="2352357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D80C5AB-57CF-14EF-5066-C89A8333AD63}"/>
              </a:ext>
            </a:extLst>
          </p:cNvPr>
          <p:cNvSpPr txBox="1"/>
          <p:nvPr/>
        </p:nvSpPr>
        <p:spPr>
          <a:xfrm>
            <a:off x="658368" y="329184"/>
            <a:ext cx="914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D7193F"/>
                </a:solidFill>
                <a:latin typeface="Aptos" panose="020B0004020202020204" pitchFamily="34" charset="0"/>
              </a:rPr>
              <a:t>04  |  LEITURA RESPONSÁVEL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460CF44-1053-4206-FF4F-6AC8D617FA2A}"/>
              </a:ext>
            </a:extLst>
          </p:cNvPr>
          <p:cNvSpPr txBox="1"/>
          <p:nvPr/>
        </p:nvSpPr>
        <p:spPr>
          <a:xfrm>
            <a:off x="658368" y="658368"/>
            <a:ext cx="109728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700" b="1">
                <a:solidFill>
                  <a:srgbClr val="11253D"/>
                </a:solidFill>
                <a:latin typeface="Aptos" panose="020B0004020202020204" pitchFamily="34" charset="0"/>
              </a:rPr>
              <a:t>Volume é evidência; impacto precisa de indicadores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45A16D5-8C8F-1CB2-CB39-4F4997FFE57C}"/>
              </a:ext>
            </a:extLst>
          </p:cNvPr>
          <p:cNvSpPr/>
          <p:nvPr/>
        </p:nvSpPr>
        <p:spPr>
          <a:xfrm>
            <a:off x="658368" y="1307592"/>
            <a:ext cx="10881360" cy="13716"/>
          </a:xfrm>
          <a:prstGeom prst="rect">
            <a:avLst/>
          </a:prstGeom>
          <a:solidFill>
            <a:srgbClr val="E8EE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314352B-8B07-B698-CCA0-BE0015F88084}"/>
              </a:ext>
            </a:extLst>
          </p:cNvPr>
          <p:cNvSpPr txBox="1"/>
          <p:nvPr/>
        </p:nvSpPr>
        <p:spPr>
          <a:xfrm>
            <a:off x="658368" y="6510528"/>
            <a:ext cx="8229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5D6B79"/>
                </a:solidFill>
                <a:latin typeface="Aptos" panose="020B0004020202020204" pitchFamily="34" charset="0"/>
              </a:rPr>
              <a:t>FELIPE GOMIDE  |  RESULTADOS &amp; PDI  |  RASCUNHO PARA DISCUSSÃO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B56CB62-A768-64C7-02F2-781171955F00}"/>
              </a:ext>
            </a:extLst>
          </p:cNvPr>
          <p:cNvSpPr txBox="1"/>
          <p:nvPr/>
        </p:nvSpPr>
        <p:spPr>
          <a:xfrm>
            <a:off x="11064240" y="6473952"/>
            <a:ext cx="457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5D6B79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EA6624B-0E4D-2A69-AAE2-E2A0BE88572E}"/>
              </a:ext>
            </a:extLst>
          </p:cNvPr>
          <p:cNvSpPr/>
          <p:nvPr/>
        </p:nvSpPr>
        <p:spPr>
          <a:xfrm>
            <a:off x="749808" y="1664208"/>
            <a:ext cx="5175504" cy="3401568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1CBCBDB-D473-EA26-7FE2-35C84E487017}"/>
              </a:ext>
            </a:extLst>
          </p:cNvPr>
          <p:cNvSpPr txBox="1"/>
          <p:nvPr/>
        </p:nvSpPr>
        <p:spPr>
          <a:xfrm>
            <a:off x="1024128" y="1920240"/>
            <a:ext cx="448056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11253D"/>
                </a:solidFill>
                <a:latin typeface="Aptos" panose="020B0004020202020204" pitchFamily="34" charset="0"/>
              </a:rPr>
              <a:t>Estado das tarefas atribuídas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4999A6D-4C21-E3EF-CDEE-D3D9D57BF78E}"/>
              </a:ext>
            </a:extLst>
          </p:cNvPr>
          <p:cNvSpPr txBox="1"/>
          <p:nvPr/>
        </p:nvSpPr>
        <p:spPr>
          <a:xfrm>
            <a:off x="1024128" y="2487168"/>
            <a:ext cx="448056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500" b="1">
                <a:solidFill>
                  <a:srgbClr val="1B2A3A"/>
                </a:solidFill>
                <a:latin typeface="Aptos" panose="020B0004020202020204" pitchFamily="34" charset="0"/>
              </a:rPr>
              <a:t>160 encerradas  |  90 canceladas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1C4CDCA-A946-D8C5-7313-79F09BD34BFB}"/>
              </a:ext>
            </a:extLst>
          </p:cNvPr>
          <p:cNvSpPr/>
          <p:nvPr/>
        </p:nvSpPr>
        <p:spPr>
          <a:xfrm>
            <a:off x="1024128" y="3154680"/>
            <a:ext cx="4498848" cy="402336"/>
          </a:xfrm>
          <a:prstGeom prst="rect">
            <a:avLst/>
          </a:prstGeom>
          <a:solidFill>
            <a:srgbClr val="E5EA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0480ACF-A034-E3BC-1A32-F47D91EB8078}"/>
              </a:ext>
            </a:extLst>
          </p:cNvPr>
          <p:cNvSpPr/>
          <p:nvPr/>
        </p:nvSpPr>
        <p:spPr>
          <a:xfrm>
            <a:off x="1024128" y="3154680"/>
            <a:ext cx="2879262" cy="402336"/>
          </a:xfrm>
          <a:prstGeom prst="rect">
            <a:avLst/>
          </a:prstGeom>
          <a:solidFill>
            <a:srgbClr val="2A8F9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8FD3092-1805-3A98-D088-AA3B2986317D}"/>
              </a:ext>
            </a:extLst>
          </p:cNvPr>
          <p:cNvSpPr/>
          <p:nvPr/>
        </p:nvSpPr>
        <p:spPr>
          <a:xfrm>
            <a:off x="3903391" y="3154680"/>
            <a:ext cx="1619585" cy="402336"/>
          </a:xfrm>
          <a:prstGeom prst="rect">
            <a:avLst/>
          </a:prstGeom>
          <a:solidFill>
            <a:srgbClr val="F0B4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ACD9BCB-E7F3-7BE5-A7EF-FF6E78885A29}"/>
              </a:ext>
            </a:extLst>
          </p:cNvPr>
          <p:cNvSpPr/>
          <p:nvPr/>
        </p:nvSpPr>
        <p:spPr>
          <a:xfrm>
            <a:off x="1024128" y="3794760"/>
            <a:ext cx="1536192" cy="292608"/>
          </a:xfrm>
          <a:prstGeom prst="rect">
            <a:avLst/>
          </a:prstGeom>
          <a:solidFill>
            <a:srgbClr val="E3F0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87ED28E-4EE3-B3B6-B6A5-07ACA7C2B632}"/>
              </a:ext>
            </a:extLst>
          </p:cNvPr>
          <p:cNvSpPr txBox="1"/>
          <p:nvPr/>
        </p:nvSpPr>
        <p:spPr>
          <a:xfrm>
            <a:off x="1115568" y="3835908"/>
            <a:ext cx="1353312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 b="1">
                <a:solidFill>
                  <a:srgbClr val="27684E"/>
                </a:solidFill>
                <a:latin typeface="Aptos" panose="020B0004020202020204" pitchFamily="34" charset="0"/>
              </a:rPr>
              <a:t>ENCERRADAS 64%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041B47E5-04ED-A4F0-CD15-ED2D12390AAA}"/>
              </a:ext>
            </a:extLst>
          </p:cNvPr>
          <p:cNvSpPr/>
          <p:nvPr/>
        </p:nvSpPr>
        <p:spPr>
          <a:xfrm>
            <a:off x="2770632" y="3794760"/>
            <a:ext cx="1444752" cy="292608"/>
          </a:xfrm>
          <a:prstGeom prst="rect">
            <a:avLst/>
          </a:prstGeom>
          <a:solidFill>
            <a:srgbClr val="FFF1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5FFAB8D-B513-E977-7AC2-8B88E1A2516C}"/>
              </a:ext>
            </a:extLst>
          </p:cNvPr>
          <p:cNvSpPr txBox="1"/>
          <p:nvPr/>
        </p:nvSpPr>
        <p:spPr>
          <a:xfrm>
            <a:off x="2862072" y="3835908"/>
            <a:ext cx="1261872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 b="1">
                <a:solidFill>
                  <a:srgbClr val="865A12"/>
                </a:solidFill>
                <a:latin typeface="Aptos" panose="020B0004020202020204" pitchFamily="34" charset="0"/>
              </a:rPr>
              <a:t>CANCELADAS 36%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D62A0EC-2FC3-D60B-3D90-C157BE19AC70}"/>
              </a:ext>
            </a:extLst>
          </p:cNvPr>
          <p:cNvSpPr txBox="1"/>
          <p:nvPr/>
        </p:nvSpPr>
        <p:spPr>
          <a:xfrm>
            <a:off x="1024128" y="4352544"/>
            <a:ext cx="45262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100">
                <a:solidFill>
                  <a:srgbClr val="5D6B79"/>
                </a:solidFill>
                <a:latin typeface="Aptos" panose="020B0004020202020204" pitchFamily="34" charset="0"/>
              </a:rPr>
              <a:t>Estado no nível de tarefa. Cancelamento não deve ser interpretado como falha sem contexto do processo.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D3595893-A7B2-698F-6A97-F68BB2B3F0F6}"/>
              </a:ext>
            </a:extLst>
          </p:cNvPr>
          <p:cNvSpPr/>
          <p:nvPr/>
        </p:nvSpPr>
        <p:spPr>
          <a:xfrm>
            <a:off x="6236208" y="1664208"/>
            <a:ext cx="5193792" cy="3401568"/>
          </a:xfrm>
          <a:prstGeom prst="rect">
            <a:avLst/>
          </a:prstGeom>
          <a:solidFill>
            <a:srgbClr val="1125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8B089EE-5D62-868E-1E6F-D13828430D1C}"/>
              </a:ext>
            </a:extLst>
          </p:cNvPr>
          <p:cNvSpPr txBox="1"/>
          <p:nvPr/>
        </p:nvSpPr>
        <p:spPr>
          <a:xfrm>
            <a:off x="6510528" y="1920240"/>
            <a:ext cx="452628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700" b="1">
                <a:solidFill>
                  <a:srgbClr val="FFFFFF"/>
                </a:solidFill>
                <a:latin typeface="Aptos" panose="020B0004020202020204" pitchFamily="34" charset="0"/>
              </a:rPr>
              <a:t>Resumo geral da planilha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2BF08638-AB20-622B-5431-45948308B365}"/>
              </a:ext>
            </a:extLst>
          </p:cNvPr>
          <p:cNvSpPr txBox="1"/>
          <p:nvPr/>
        </p:nvSpPr>
        <p:spPr>
          <a:xfrm>
            <a:off x="6510528" y="2542032"/>
            <a:ext cx="452628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3100" b="1">
                <a:solidFill>
                  <a:srgbClr val="FFFFFF"/>
                </a:solidFill>
                <a:latin typeface="Aptos" panose="020B0004020202020204" pitchFamily="34" charset="0"/>
              </a:rPr>
              <a:t>188 / 192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9CAE2DC-D352-D1A6-DF4F-625DE5314A29}"/>
              </a:ext>
            </a:extLst>
          </p:cNvPr>
          <p:cNvSpPr txBox="1"/>
          <p:nvPr/>
        </p:nvSpPr>
        <p:spPr>
          <a:xfrm>
            <a:off x="6510528" y="3172968"/>
            <a:ext cx="452628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DCE5ED"/>
                </a:solidFill>
                <a:latin typeface="Aptos" panose="020B0004020202020204" pitchFamily="34" charset="0"/>
              </a:rPr>
              <a:t>CHGs únicos marcados como encerrados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0251EFCA-095D-AECA-8168-66009D1B83BF}"/>
              </a:ext>
            </a:extLst>
          </p:cNvPr>
          <p:cNvSpPr/>
          <p:nvPr/>
        </p:nvSpPr>
        <p:spPr>
          <a:xfrm>
            <a:off x="6510528" y="3822192"/>
            <a:ext cx="4498848" cy="32004"/>
          </a:xfrm>
          <a:prstGeom prst="rect">
            <a:avLst/>
          </a:prstGeom>
          <a:solidFill>
            <a:srgbClr val="4760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BF34B1D3-2C3B-D2A5-2DCE-20C849F10A5F}"/>
              </a:ext>
            </a:extLst>
          </p:cNvPr>
          <p:cNvSpPr txBox="1"/>
          <p:nvPr/>
        </p:nvSpPr>
        <p:spPr>
          <a:xfrm>
            <a:off x="6510528" y="4087368"/>
            <a:ext cx="45262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100">
                <a:solidFill>
                  <a:srgbClr val="C2D0DC"/>
                </a:solidFill>
                <a:latin typeface="Aptos" panose="020B0004020202020204" pitchFamily="34" charset="0"/>
              </a:rPr>
              <a:t>4 CHGs constam como abertos. Este resumo não representa exclusivamente os CHGs atribuídos a Felipe.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C336F8B2-AE49-47DC-74F3-B8DD45E29B93}"/>
              </a:ext>
            </a:extLst>
          </p:cNvPr>
          <p:cNvSpPr txBox="1"/>
          <p:nvPr/>
        </p:nvSpPr>
        <p:spPr>
          <a:xfrm>
            <a:off x="822960" y="5440680"/>
            <a:ext cx="10469880" cy="43217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 b="1">
                <a:solidFill>
                  <a:srgbClr val="1B2A3A"/>
                </a:solidFill>
                <a:latin typeface="Aptos" panose="020B0004020202020204" pitchFamily="34" charset="0"/>
              </a:rPr>
              <a:t>Para a próxima revisão, incluir: SLA, lead time, retrabalho, incidentes pós-change e horas poupadas. Assim, o próximo ciclo poderá mostrar impacto — além de volume.</a:t>
            </a:r>
          </a:p>
        </p:txBody>
      </p:sp>
    </p:spTree>
    <p:extLst>
      <p:ext uri="{BB962C8B-B14F-4D97-AF65-F5344CB8AC3E}">
        <p14:creationId xmlns:p14="http://schemas.microsoft.com/office/powerpoint/2010/main" val="170957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E6B6DC5-DA32-614B-4A69-C6D306821469}"/>
              </a:ext>
            </a:extLst>
          </p:cNvPr>
          <p:cNvSpPr txBox="1"/>
          <p:nvPr/>
        </p:nvSpPr>
        <p:spPr>
          <a:xfrm>
            <a:off x="658368" y="329184"/>
            <a:ext cx="914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D7193F"/>
                </a:solidFill>
                <a:latin typeface="Aptos" panose="020B0004020202020204" pitchFamily="34" charset="0"/>
              </a:rPr>
              <a:t>05  |  PDI PROPOSTO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1BACF6A-9EB3-6D1B-699C-BB1B5F7BFE82}"/>
              </a:ext>
            </a:extLst>
          </p:cNvPr>
          <p:cNvSpPr txBox="1"/>
          <p:nvPr/>
        </p:nvSpPr>
        <p:spPr>
          <a:xfrm>
            <a:off x="658368" y="658368"/>
            <a:ext cx="109728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700" b="1">
                <a:solidFill>
                  <a:srgbClr val="11253D"/>
                </a:solidFill>
                <a:latin typeface="Aptos" panose="020B0004020202020204" pitchFamily="34" charset="0"/>
              </a:rPr>
              <a:t>Em 90 dias: sair de execução recorrente para melhoria comprovada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3C4A69B-2C28-0967-A5CF-83C05BA95320}"/>
              </a:ext>
            </a:extLst>
          </p:cNvPr>
          <p:cNvSpPr/>
          <p:nvPr/>
        </p:nvSpPr>
        <p:spPr>
          <a:xfrm>
            <a:off x="658368" y="1307592"/>
            <a:ext cx="10881360" cy="13716"/>
          </a:xfrm>
          <a:prstGeom prst="rect">
            <a:avLst/>
          </a:prstGeom>
          <a:solidFill>
            <a:srgbClr val="E8EE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CC2A387-CC6E-49F9-379E-216853CC4BD1}"/>
              </a:ext>
            </a:extLst>
          </p:cNvPr>
          <p:cNvSpPr txBox="1"/>
          <p:nvPr/>
        </p:nvSpPr>
        <p:spPr>
          <a:xfrm>
            <a:off x="658368" y="6510528"/>
            <a:ext cx="8229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5D6B79"/>
                </a:solidFill>
                <a:latin typeface="Aptos" panose="020B0004020202020204" pitchFamily="34" charset="0"/>
              </a:rPr>
              <a:t>FELIPE GOMIDE  |  RESULTADOS &amp; PDI  |  RASCUNHO PARA DISCUSSÃO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8E56641-FE2C-E31E-DA6F-650741F8BA32}"/>
              </a:ext>
            </a:extLst>
          </p:cNvPr>
          <p:cNvSpPr txBox="1"/>
          <p:nvPr/>
        </p:nvSpPr>
        <p:spPr>
          <a:xfrm>
            <a:off x="11064240" y="6473952"/>
            <a:ext cx="457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5D6B79"/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8266C70-9964-FC83-BCB9-5B41A7F59917}"/>
              </a:ext>
            </a:extLst>
          </p:cNvPr>
          <p:cNvSpPr/>
          <p:nvPr/>
        </p:nvSpPr>
        <p:spPr>
          <a:xfrm>
            <a:off x="9464040" y="1481328"/>
            <a:ext cx="1938528" cy="292608"/>
          </a:xfrm>
          <a:prstGeom prst="rect">
            <a:avLst/>
          </a:prstGeom>
          <a:solidFill>
            <a:srgbClr val="FFF1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7973E54-1223-F38A-009F-A1C711A64CF7}"/>
              </a:ext>
            </a:extLst>
          </p:cNvPr>
          <p:cNvSpPr txBox="1"/>
          <p:nvPr/>
        </p:nvSpPr>
        <p:spPr>
          <a:xfrm>
            <a:off x="9555480" y="1522476"/>
            <a:ext cx="1755648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 b="1">
                <a:solidFill>
                  <a:srgbClr val="865A12"/>
                </a:solidFill>
                <a:latin typeface="Aptos" panose="020B0004020202020204" pitchFamily="34" charset="0"/>
              </a:rPr>
              <a:t>PROPOSTA A VALIDAR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F8E148B-A8D1-7AA4-5A11-05DD54BDDCEF}"/>
              </a:ext>
            </a:extLst>
          </p:cNvPr>
          <p:cNvSpPr/>
          <p:nvPr/>
        </p:nvSpPr>
        <p:spPr>
          <a:xfrm>
            <a:off x="777240" y="1993392"/>
            <a:ext cx="3447288" cy="310896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71209C4-656B-6B7C-FA2B-1BE0A915054A}"/>
              </a:ext>
            </a:extLst>
          </p:cNvPr>
          <p:cNvSpPr/>
          <p:nvPr/>
        </p:nvSpPr>
        <p:spPr>
          <a:xfrm>
            <a:off x="777240" y="1993392"/>
            <a:ext cx="3447288" cy="82296"/>
          </a:xfrm>
          <a:prstGeom prst="rect">
            <a:avLst/>
          </a:prstGeom>
          <a:solidFill>
            <a:srgbClr val="D7193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4DF6565-3570-3440-A040-81C00CD36813}"/>
              </a:ext>
            </a:extLst>
          </p:cNvPr>
          <p:cNvSpPr txBox="1"/>
          <p:nvPr/>
        </p:nvSpPr>
        <p:spPr>
          <a:xfrm>
            <a:off x="978408" y="2276856"/>
            <a:ext cx="438912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000" b="1">
                <a:solidFill>
                  <a:srgbClr val="D7193F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ECBCBDA-1CDB-46B8-5B7E-9C2E32CD41ED}"/>
              </a:ext>
            </a:extLst>
          </p:cNvPr>
          <p:cNvSpPr txBox="1"/>
          <p:nvPr/>
        </p:nvSpPr>
        <p:spPr>
          <a:xfrm>
            <a:off x="1490472" y="2313432"/>
            <a:ext cx="2487168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 b="1">
                <a:solidFill>
                  <a:srgbClr val="11253D"/>
                </a:solidFill>
                <a:latin typeface="Aptos" panose="020B0004020202020204" pitchFamily="34" charset="0"/>
              </a:rPr>
              <a:t>DIAGNOSTICAR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577A163-6155-3D2A-7B62-00A16C76765C}"/>
              </a:ext>
            </a:extLst>
          </p:cNvPr>
          <p:cNvSpPr txBox="1"/>
          <p:nvPr/>
        </p:nvSpPr>
        <p:spPr>
          <a:xfrm>
            <a:off x="978408" y="2798064"/>
            <a:ext cx="278892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100" b="1">
                <a:solidFill>
                  <a:srgbClr val="5D6B79"/>
                </a:solidFill>
                <a:latin typeface="Aptos" panose="020B0004020202020204" pitchFamily="34" charset="0"/>
              </a:rPr>
              <a:t>Dias 1–30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6BA745C-591F-7E9A-4044-FC4EA4858151}"/>
              </a:ext>
            </a:extLst>
          </p:cNvPr>
          <p:cNvSpPr txBox="1"/>
          <p:nvPr/>
        </p:nvSpPr>
        <p:spPr>
          <a:xfrm>
            <a:off x="978408" y="3182112"/>
            <a:ext cx="292608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1B2A3A"/>
                </a:solidFill>
                <a:latin typeface="Aptos" panose="020B0004020202020204" pitchFamily="34" charset="0"/>
              </a:rPr>
              <a:t>Escolher um fluxo recorrente de change. Mapear etapas, riscos e baseline de esforço/tempo.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95D9710-C765-4DE1-9BE2-E926832CBFD4}"/>
              </a:ext>
            </a:extLst>
          </p:cNvPr>
          <p:cNvSpPr txBox="1"/>
          <p:nvPr/>
        </p:nvSpPr>
        <p:spPr>
          <a:xfrm>
            <a:off x="978408" y="4407408"/>
            <a:ext cx="2907792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5D6B79"/>
                </a:solidFill>
                <a:latin typeface="Aptos" panose="020B0004020202020204" pitchFamily="34" charset="0"/>
              </a:rPr>
              <a:t>Entregável: baseline + oportunidade priorizada.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422E0983-6D44-506D-37B6-89B6F3091AB9}"/>
              </a:ext>
            </a:extLst>
          </p:cNvPr>
          <p:cNvSpPr/>
          <p:nvPr/>
        </p:nvSpPr>
        <p:spPr>
          <a:xfrm>
            <a:off x="4462272" y="1993392"/>
            <a:ext cx="3447288" cy="310896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1A1ABDB-4BA3-023D-3D96-C37D8E91627B}"/>
              </a:ext>
            </a:extLst>
          </p:cNvPr>
          <p:cNvSpPr/>
          <p:nvPr/>
        </p:nvSpPr>
        <p:spPr>
          <a:xfrm>
            <a:off x="4462272" y="1993392"/>
            <a:ext cx="3447288" cy="82296"/>
          </a:xfrm>
          <a:prstGeom prst="rect">
            <a:avLst/>
          </a:prstGeom>
          <a:solidFill>
            <a:srgbClr val="2A8F9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5A0C3F7-7944-C24D-7FE2-A98E1BCB3C94}"/>
              </a:ext>
            </a:extLst>
          </p:cNvPr>
          <p:cNvSpPr txBox="1"/>
          <p:nvPr/>
        </p:nvSpPr>
        <p:spPr>
          <a:xfrm>
            <a:off x="4663440" y="2276856"/>
            <a:ext cx="438912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000" b="1">
                <a:solidFill>
                  <a:srgbClr val="2A8F9C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ECD5EE2-49F5-F0BA-8343-B801184EC1FB}"/>
              </a:ext>
            </a:extLst>
          </p:cNvPr>
          <p:cNvSpPr txBox="1"/>
          <p:nvPr/>
        </p:nvSpPr>
        <p:spPr>
          <a:xfrm>
            <a:off x="5175504" y="2313432"/>
            <a:ext cx="2487168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 b="1">
                <a:solidFill>
                  <a:srgbClr val="11253D"/>
                </a:solidFill>
                <a:latin typeface="Aptos" panose="020B0004020202020204" pitchFamily="34" charset="0"/>
              </a:rPr>
              <a:t>PILOTAR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4D6C0E1C-711A-C8B3-676D-33BB00F1E20D}"/>
              </a:ext>
            </a:extLst>
          </p:cNvPr>
          <p:cNvSpPr txBox="1"/>
          <p:nvPr/>
        </p:nvSpPr>
        <p:spPr>
          <a:xfrm>
            <a:off x="4663440" y="2798064"/>
            <a:ext cx="278892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100" b="1">
                <a:solidFill>
                  <a:srgbClr val="5D6B79"/>
                </a:solidFill>
                <a:latin typeface="Aptos" panose="020B0004020202020204" pitchFamily="34" charset="0"/>
              </a:rPr>
              <a:t>Dias 31–60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50970CB-5B72-CBCD-24FD-39C80481D73E}"/>
              </a:ext>
            </a:extLst>
          </p:cNvPr>
          <p:cNvSpPr txBox="1"/>
          <p:nvPr/>
        </p:nvSpPr>
        <p:spPr>
          <a:xfrm>
            <a:off x="4663440" y="3182112"/>
            <a:ext cx="292608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1B2A3A"/>
                </a:solidFill>
                <a:latin typeface="Aptos" panose="020B0004020202020204" pitchFamily="34" charset="0"/>
              </a:rPr>
              <a:t>Criar uma automação ou checklist padronizado para um caso de uso delimitado. Testar com controles e documentação.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47453EB0-70DF-A9D4-CC2D-6E8930CCB492}"/>
              </a:ext>
            </a:extLst>
          </p:cNvPr>
          <p:cNvSpPr txBox="1"/>
          <p:nvPr/>
        </p:nvSpPr>
        <p:spPr>
          <a:xfrm>
            <a:off x="4663440" y="4407408"/>
            <a:ext cx="2907792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5D6B79"/>
                </a:solidFill>
                <a:latin typeface="Aptos" panose="020B0004020202020204" pitchFamily="34" charset="0"/>
              </a:rPr>
              <a:t>Entregável: piloto testado + runbook.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6C056529-C16B-E517-67EA-D75812871900}"/>
              </a:ext>
            </a:extLst>
          </p:cNvPr>
          <p:cNvSpPr/>
          <p:nvPr/>
        </p:nvSpPr>
        <p:spPr>
          <a:xfrm>
            <a:off x="8147304" y="1993392"/>
            <a:ext cx="3447288" cy="310896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6C0D0A2F-F940-8A41-2B33-3857F3B52560}"/>
              </a:ext>
            </a:extLst>
          </p:cNvPr>
          <p:cNvSpPr/>
          <p:nvPr/>
        </p:nvSpPr>
        <p:spPr>
          <a:xfrm>
            <a:off x="8147304" y="1993392"/>
            <a:ext cx="3447288" cy="82296"/>
          </a:xfrm>
          <a:prstGeom prst="rect">
            <a:avLst/>
          </a:prstGeom>
          <a:solidFill>
            <a:srgbClr val="F0B4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ACDB5456-2117-6507-AD4A-B2ED8E161EA9}"/>
              </a:ext>
            </a:extLst>
          </p:cNvPr>
          <p:cNvSpPr txBox="1"/>
          <p:nvPr/>
        </p:nvSpPr>
        <p:spPr>
          <a:xfrm>
            <a:off x="8348472" y="2276856"/>
            <a:ext cx="438912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000" b="1">
                <a:solidFill>
                  <a:srgbClr val="F0B44D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5BBADAC2-CEDE-E53E-59C1-85124A9C22EF}"/>
              </a:ext>
            </a:extLst>
          </p:cNvPr>
          <p:cNvSpPr txBox="1"/>
          <p:nvPr/>
        </p:nvSpPr>
        <p:spPr>
          <a:xfrm>
            <a:off x="8860536" y="2313432"/>
            <a:ext cx="2487168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 b="1">
                <a:solidFill>
                  <a:srgbClr val="11253D"/>
                </a:solidFill>
                <a:latin typeface="Aptos" panose="020B0004020202020204" pitchFamily="34" charset="0"/>
              </a:rPr>
              <a:t>DEMONSTRAR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EE2085DA-2150-27B8-EA11-62F2917E851A}"/>
              </a:ext>
            </a:extLst>
          </p:cNvPr>
          <p:cNvSpPr txBox="1"/>
          <p:nvPr/>
        </p:nvSpPr>
        <p:spPr>
          <a:xfrm>
            <a:off x="8348472" y="2798064"/>
            <a:ext cx="278892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100" b="1">
                <a:solidFill>
                  <a:srgbClr val="5D6B79"/>
                </a:solidFill>
                <a:latin typeface="Aptos" panose="020B0004020202020204" pitchFamily="34" charset="0"/>
              </a:rPr>
              <a:t>Dias 61–90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B5E29847-21EA-27CB-6843-1E7149AFE33E}"/>
              </a:ext>
            </a:extLst>
          </p:cNvPr>
          <p:cNvSpPr txBox="1"/>
          <p:nvPr/>
        </p:nvSpPr>
        <p:spPr>
          <a:xfrm>
            <a:off x="8348472" y="3182112"/>
            <a:ext cx="292608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1B2A3A"/>
                </a:solidFill>
                <a:latin typeface="Aptos" panose="020B0004020202020204" pitchFamily="34" charset="0"/>
              </a:rPr>
              <a:t>Comparar com o baseline, registrar qualidade e apresentar recomendação de escala.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67EDE7B6-034B-A3E3-3DBA-0A4C6FD1C064}"/>
              </a:ext>
            </a:extLst>
          </p:cNvPr>
          <p:cNvSpPr txBox="1"/>
          <p:nvPr/>
        </p:nvSpPr>
        <p:spPr>
          <a:xfrm>
            <a:off x="8348472" y="4407408"/>
            <a:ext cx="2907792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5D6B79"/>
                </a:solidFill>
                <a:latin typeface="Aptos" panose="020B0004020202020204" pitchFamily="34" charset="0"/>
              </a:rPr>
              <a:t>Entregável: resultados + proposta de expansão.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D7C7B7C7-A85A-B43C-19D1-8EA0B930F708}"/>
              </a:ext>
            </a:extLst>
          </p:cNvPr>
          <p:cNvSpPr/>
          <p:nvPr/>
        </p:nvSpPr>
        <p:spPr>
          <a:xfrm>
            <a:off x="795528" y="5404104"/>
            <a:ext cx="10652760" cy="630936"/>
          </a:xfrm>
          <a:prstGeom prst="rect">
            <a:avLst/>
          </a:prstGeom>
          <a:solidFill>
            <a:srgbClr val="1125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9AEB814A-7581-429B-581D-87D6152C5E8A}"/>
              </a:ext>
            </a:extLst>
          </p:cNvPr>
          <p:cNvSpPr txBox="1"/>
          <p:nvPr/>
        </p:nvSpPr>
        <p:spPr>
          <a:xfrm>
            <a:off x="1014984" y="5577840"/>
            <a:ext cx="1014984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>
                <a:solidFill>
                  <a:srgbClr val="FFFFFF"/>
                </a:solidFill>
                <a:latin typeface="Aptos" panose="020B0004020202020204" pitchFamily="34" charset="0"/>
              </a:rPr>
              <a:t>Métrica sugerida: reduzir em 20% o esforço manual do fluxo piloto — alvo inicial a combinar após medir o baseline.</a:t>
            </a:r>
          </a:p>
        </p:txBody>
      </p:sp>
    </p:spTree>
    <p:extLst>
      <p:ext uri="{BB962C8B-B14F-4D97-AF65-F5344CB8AC3E}">
        <p14:creationId xmlns:p14="http://schemas.microsoft.com/office/powerpoint/2010/main" val="4227582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B0191B7-3CC4-01F0-FD2D-8C43E150FA27}"/>
              </a:ext>
            </a:extLst>
          </p:cNvPr>
          <p:cNvSpPr txBox="1"/>
          <p:nvPr/>
        </p:nvSpPr>
        <p:spPr>
          <a:xfrm>
            <a:off x="777240" y="512064"/>
            <a:ext cx="914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AFC0D0"/>
                </a:solidFill>
                <a:latin typeface="Aptos" panose="020B0004020202020204" pitchFamily="34" charset="0"/>
              </a:rPr>
              <a:t>06  |  PRÓXIMO PASSO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FAEC1C3-8F0F-2119-ED69-116BA9A51E55}"/>
              </a:ext>
            </a:extLst>
          </p:cNvPr>
          <p:cNvSpPr txBox="1"/>
          <p:nvPr/>
        </p:nvSpPr>
        <p:spPr>
          <a:xfrm>
            <a:off x="777240" y="1078992"/>
            <a:ext cx="1078992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3100" b="1">
                <a:solidFill>
                  <a:srgbClr val="FFFFFF"/>
                </a:solidFill>
                <a:latin typeface="Aptos" panose="020B0004020202020204" pitchFamily="34" charset="0"/>
              </a:rPr>
              <a:t>A oportunidade que quero construir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095F148-48CF-3683-C6EE-3780F15A70DA}"/>
              </a:ext>
            </a:extLst>
          </p:cNvPr>
          <p:cNvSpPr/>
          <p:nvPr/>
        </p:nvSpPr>
        <p:spPr>
          <a:xfrm>
            <a:off x="777240" y="2011680"/>
            <a:ext cx="91440" cy="2862072"/>
          </a:xfrm>
          <a:prstGeom prst="rect">
            <a:avLst/>
          </a:prstGeom>
          <a:solidFill>
            <a:srgbClr val="D7193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5AEECA4-6A55-34F9-FF87-BDD1FBADEE10}"/>
              </a:ext>
            </a:extLst>
          </p:cNvPr>
          <p:cNvSpPr txBox="1"/>
          <p:nvPr/>
        </p:nvSpPr>
        <p:spPr>
          <a:xfrm>
            <a:off x="1078992" y="2075688"/>
            <a:ext cx="987552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>
                <a:solidFill>
                  <a:srgbClr val="FFFFFF"/>
                </a:solidFill>
                <a:latin typeface="Aptos" panose="020B0004020202020204" pitchFamily="34" charset="0"/>
              </a:rPr>
              <a:t>Assumir a liderança de um piloto de melhoria em Cloud operations / AWS changes, conectando automação, segurança operacional e qualidade de execução.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99FBDE6-9063-5D27-3506-990F636EF244}"/>
              </a:ext>
            </a:extLst>
          </p:cNvPr>
          <p:cNvSpPr txBox="1"/>
          <p:nvPr/>
        </p:nvSpPr>
        <p:spPr>
          <a:xfrm>
            <a:off x="1097280" y="3218688"/>
            <a:ext cx="438912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>
                <a:solidFill>
                  <a:srgbClr val="F0B44D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A396657-206E-D203-C586-D009C45A3B20}"/>
              </a:ext>
            </a:extLst>
          </p:cNvPr>
          <p:cNvSpPr txBox="1"/>
          <p:nvPr/>
        </p:nvSpPr>
        <p:spPr>
          <a:xfrm>
            <a:off x="1627632" y="3218688"/>
            <a:ext cx="932688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500">
                <a:solidFill>
                  <a:srgbClr val="E4EBF1"/>
                </a:solidFill>
                <a:latin typeface="Aptos" panose="020B0004020202020204" pitchFamily="34" charset="0"/>
              </a:rPr>
              <a:t>Um fluxo e escopo priorizados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7B85D21-FBEF-B1C2-3162-C66D57F9CE02}"/>
              </a:ext>
            </a:extLst>
          </p:cNvPr>
          <p:cNvSpPr txBox="1"/>
          <p:nvPr/>
        </p:nvSpPr>
        <p:spPr>
          <a:xfrm>
            <a:off x="1097280" y="3749040"/>
            <a:ext cx="438912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>
                <a:solidFill>
                  <a:srgbClr val="F0B44D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5C002E1-008E-A8E1-985D-405D1230F2C0}"/>
              </a:ext>
            </a:extLst>
          </p:cNvPr>
          <p:cNvSpPr txBox="1"/>
          <p:nvPr/>
        </p:nvSpPr>
        <p:spPr>
          <a:xfrm>
            <a:off x="1627632" y="3749040"/>
            <a:ext cx="932688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500">
                <a:solidFill>
                  <a:srgbClr val="E4EBF1"/>
                </a:solidFill>
                <a:latin typeface="Aptos" panose="020B0004020202020204" pitchFamily="34" charset="0"/>
              </a:rPr>
              <a:t>Um sponsor para remover impedimentos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A6AFD7C-1439-DA02-8B0F-CC0FD2840DCC}"/>
              </a:ext>
            </a:extLst>
          </p:cNvPr>
          <p:cNvSpPr txBox="1"/>
          <p:nvPr/>
        </p:nvSpPr>
        <p:spPr>
          <a:xfrm>
            <a:off x="1097280" y="4279392"/>
            <a:ext cx="438912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>
                <a:solidFill>
                  <a:srgbClr val="F0B44D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2E842FC-6570-A672-EE21-178E67262613}"/>
              </a:ext>
            </a:extLst>
          </p:cNvPr>
          <p:cNvSpPr txBox="1"/>
          <p:nvPr/>
        </p:nvSpPr>
        <p:spPr>
          <a:xfrm>
            <a:off x="1627632" y="4279392"/>
            <a:ext cx="932688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500">
                <a:solidFill>
                  <a:srgbClr val="E4EBF1"/>
                </a:solidFill>
                <a:latin typeface="Aptos" panose="020B0004020202020204" pitchFamily="34" charset="0"/>
              </a:rPr>
              <a:t>Revisão de resultados e próximos passos em 90 dias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56B6888-5695-239F-C33E-46A15F913E21}"/>
              </a:ext>
            </a:extLst>
          </p:cNvPr>
          <p:cNvSpPr/>
          <p:nvPr/>
        </p:nvSpPr>
        <p:spPr>
          <a:xfrm>
            <a:off x="777240" y="5376672"/>
            <a:ext cx="10652760" cy="667512"/>
          </a:xfrm>
          <a:prstGeom prst="rect">
            <a:avLst/>
          </a:prstGeom>
          <a:solidFill>
            <a:srgbClr val="2038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2E49A33-1512-DDC4-A669-1937D8F909E7}"/>
              </a:ext>
            </a:extLst>
          </p:cNvPr>
          <p:cNvSpPr txBox="1"/>
          <p:nvPr/>
        </p:nvSpPr>
        <p:spPr>
          <a:xfrm>
            <a:off x="1024128" y="5568696"/>
            <a:ext cx="10058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 b="1">
                <a:solidFill>
                  <a:srgbClr val="FFFFFF"/>
                </a:solidFill>
                <a:latin typeface="Aptos" panose="020B0004020202020204" pitchFamily="34" charset="0"/>
              </a:rPr>
              <a:t>Pedido: alinharmos escopo, sponsor e critério de sucesso — e revisarmos a evolução ao final do piloto.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4DFCFC0-E1F4-D5E8-8543-2952EAFF6532}"/>
              </a:ext>
            </a:extLst>
          </p:cNvPr>
          <p:cNvSpPr txBox="1"/>
          <p:nvPr/>
        </p:nvSpPr>
        <p:spPr>
          <a:xfrm>
            <a:off x="804672" y="6473952"/>
            <a:ext cx="914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AFC0D0"/>
                </a:solidFill>
                <a:latin typeface="Aptos" panose="020B0004020202020204" pitchFamily="34" charset="0"/>
              </a:rPr>
              <a:t>Fonte: atendimento_demandas.xlsx  |  Números preliminares; validar escopo e categorias antes da apresentação final.</a:t>
            </a:r>
          </a:p>
        </p:txBody>
      </p:sp>
    </p:spTree>
    <p:extLst>
      <p:ext uri="{BB962C8B-B14F-4D97-AF65-F5344CB8AC3E}">
        <p14:creationId xmlns:p14="http://schemas.microsoft.com/office/powerpoint/2010/main" val="8607152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3fed9c9-9e02-402c-91c6-79672c367b2e}" enabled="1" method="Standard" siteId="{ccd25372-eb59-436a-ad74-78a49d784cf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725</Words>
  <Application>Microsoft Office PowerPoint</Application>
  <PresentationFormat>Apresentação na tela (16:10)</PresentationFormat>
  <Paragraphs>116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Banco Bradesco S.A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FELIPE GOMIDE DA SILVA MELLO</dc:creator>
  <cp:lastModifiedBy>FELIPE GOMIDE DA SILVA MELLO</cp:lastModifiedBy>
  <cp:revision>1</cp:revision>
  <dcterms:created xsi:type="dcterms:W3CDTF">2026-10-08T14:27:42Z</dcterms:created>
  <dcterms:modified xsi:type="dcterms:W3CDTF">2026-10-08T14:27:42Z</dcterms:modified>
</cp:coreProperties>
</file>