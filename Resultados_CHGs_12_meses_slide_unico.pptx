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715000" type="screen16x10"/>
  <p:notesSz cx="6858000" cy="9144000"/>
  <p:defaultTextStyle>
    <a:defPPr>
      <a:defRPr lang="pt-BR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8E567-5F9B-1493-524A-546F534C8A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FD518C-B76F-A4AF-C877-2FC0B4400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95C4B7-169F-4D9A-45F9-6B147017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95E563-A381-872C-E0A3-68928876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D665E4-00A0-DE65-B803-D29AC6A28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936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5243D-E234-D6CD-383C-7C2011EF7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EE3375-8543-D980-5F46-99BD5A54F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A3407B-FC55-F74C-E0AE-53829DB6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5E897E-6774-3AAA-8FA7-A37BC39B7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9AEC44-F1D3-E1DF-EDCF-A67889CA7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300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F3B76-F4AD-675D-54AD-D42BFAE9D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7E1CA3-E2A8-628D-E2D2-24A5CFF6D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F23318-0A1A-1B77-0877-D92F7D380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3A58F9-041C-F758-4D1A-F8651B60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3F571F-8D5D-2211-CCA1-F42E7898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257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784D8-6842-A592-DEED-AE61B0493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D93BC6-238D-B615-C53A-39B322C75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A1D189A-4939-B622-9F64-8B7A7D505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A026880-0978-F5FF-8580-1144B5A4A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2138A0-147B-8156-ED13-057B8F058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7EED2F-1D6B-842F-82DA-1AED9E1A7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355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11B639-3650-C678-85B1-4A96DED0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A53CF2-C019-A408-7D89-6A4245D0C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D16B35-46C3-D882-AB61-479E56051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EF5185-AF30-9917-FF29-95E969E54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365DAE-F91B-C695-86FB-4A81DE726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8A766C-6976-5B7A-79B8-50627599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11ED15-70B0-1668-B157-3A7585C0A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E7C2E36-75B0-58BC-E889-630B31274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580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76493-7473-B77C-6864-35791022C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FC0EA0-9EA4-7653-5B8E-9014E953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49A520-40B2-D5FB-4571-CCD2A89CA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CE55F4-D3E6-1B33-E9F3-1B7E0FC6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7172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9D284F-454C-7C4D-FD25-079BBBCC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8BEC5E-7F0C-20FB-C6C4-B852F8895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C3B6DF-2643-9ABC-C27F-1E99371C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003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7F4FD-8D17-A86F-2D8F-6DBD231F1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78841E-7C3C-C107-9F7F-856FDF0C6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5A48B-D595-F287-28E1-B5EC210EA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0B3CCD-DD37-F1D1-0692-9462BD6F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1DB5C3-2743-75FF-B471-6832080C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9536B8-1E46-B8DD-CEDF-8A33D5431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137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C3A06-931F-6E21-6E93-3607E08BF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CE673E-B8CE-2AE9-75E9-7C333E0D0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6ADB5DC-1C15-B2B1-E5ED-E46232EDE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9A9EEA6-BCC3-71F9-9D1A-57318562E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DD5841-2318-34A0-490D-BBEC30443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AF3265-6032-B371-EE20-D833DE8C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099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1666C-AF63-BD5C-59D8-B1EB3065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9873CF-53C1-4D85-177F-238AB7FA04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52F540-8D93-A25A-DDC5-6C11C59A6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9E6A9F9-D4A1-B038-6B64-210D4C94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3FC17C-51F5-7226-1D93-1E78DC6A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78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834C13-A934-AF6F-13C2-AFD0F02D8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5F8C667-7D05-7201-46C5-E30F6092C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72B8A1-3B73-1F08-0EED-B714F2227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F1371D-5693-169A-6353-EE7780A7D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BBAF15-748E-3AF7-716D-0FF5D158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434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858CAC6-02CC-2B89-0689-05FA6F48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DB3FC5-B8DE-FA8B-EA8B-EF7EC31A1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0CB882-A58B-C5D7-C4FF-6A958DF43C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3F9A4-BBFD-4373-A4D7-39FA8ADCEC85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E345F2-FB14-6D0B-F247-DC1897D02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E59FA2-23F8-4964-9583-A48A23807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A8C9E6-5EAB-4132-924E-B3F4CDEA91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896FD3C-B084-6253-E987-BAC612D1BC00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7A8529-63D3-76C8-4810-31CAFB4E9DA1}"/>
              </a:ext>
            </a:extLst>
          </p:cNvPr>
          <p:cNvSpPr txBox="1"/>
          <p:nvPr/>
        </p:nvSpPr>
        <p:spPr>
          <a:xfrm>
            <a:off x="713232" y="530352"/>
            <a:ext cx="1078992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pt-BR" sz="2800" b="1">
                <a:solidFill>
                  <a:srgbClr val="11253D"/>
                </a:solidFill>
                <a:latin typeface="Aptos Display" panose="020B0004020202020204" pitchFamily="34" charset="0"/>
              </a:rPr>
              <a:t>CHGs encerradas | últimos 12 meses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FC59B23-A48F-74AA-5C2F-F244B1CA8AB7}"/>
              </a:ext>
            </a:extLst>
          </p:cNvPr>
          <p:cNvSpPr txBox="1"/>
          <p:nvPr/>
        </p:nvSpPr>
        <p:spPr>
          <a:xfrm>
            <a:off x="731520" y="1124712"/>
            <a:ext cx="10789920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300">
                <a:solidFill>
                  <a:srgbClr val="5D6B79"/>
                </a:solidFill>
                <a:latin typeface="Aptos" panose="020B0004020202020204" pitchFamily="34" charset="0"/>
              </a:rPr>
              <a:t>08 out 2025 – 08 out 2026   •   CHGs únicos por categoria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C86FAAC-D7B5-97FC-9AB8-B3CA6A5E5FED}"/>
              </a:ext>
            </a:extLst>
          </p:cNvPr>
          <p:cNvSpPr/>
          <p:nvPr/>
        </p:nvSpPr>
        <p:spPr>
          <a:xfrm>
            <a:off x="749808" y="1755648"/>
            <a:ext cx="10680192" cy="3950208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56FEFE-1BAE-2CD3-5C5E-EEFADBF7E944}"/>
              </a:ext>
            </a:extLst>
          </p:cNvPr>
          <p:cNvSpPr txBox="1"/>
          <p:nvPr/>
        </p:nvSpPr>
        <p:spPr>
          <a:xfrm>
            <a:off x="1051560" y="2267712"/>
            <a:ext cx="1993392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300" b="1">
                <a:solidFill>
                  <a:srgbClr val="25384A"/>
                </a:solidFill>
                <a:latin typeface="Aptos" panose="020B0004020202020204" pitchFamily="34" charset="0"/>
              </a:rPr>
              <a:t>DELETE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1060E83-7B5A-52C1-BD24-5EE88A7071C6}"/>
              </a:ext>
            </a:extLst>
          </p:cNvPr>
          <p:cNvSpPr/>
          <p:nvPr/>
        </p:nvSpPr>
        <p:spPr>
          <a:xfrm>
            <a:off x="3337560" y="2240280"/>
            <a:ext cx="6217920" cy="329184"/>
          </a:xfrm>
          <a:prstGeom prst="rect">
            <a:avLst/>
          </a:prstGeom>
          <a:solidFill>
            <a:srgbClr val="E8ED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F47B8CC-734B-E97E-4CDE-956C55B6B066}"/>
              </a:ext>
            </a:extLst>
          </p:cNvPr>
          <p:cNvSpPr/>
          <p:nvPr/>
        </p:nvSpPr>
        <p:spPr>
          <a:xfrm>
            <a:off x="3337560" y="2240280"/>
            <a:ext cx="6217920" cy="329184"/>
          </a:xfrm>
          <a:prstGeom prst="rect">
            <a:avLst/>
          </a:prstGeom>
          <a:solidFill>
            <a:srgbClr val="D719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70E068F-9F2F-1E76-3A29-95C4648185CD}"/>
              </a:ext>
            </a:extLst>
          </p:cNvPr>
          <p:cNvSpPr txBox="1"/>
          <p:nvPr/>
        </p:nvSpPr>
        <p:spPr>
          <a:xfrm>
            <a:off x="9720072" y="2253996"/>
            <a:ext cx="566928" cy="26225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400" b="1">
                <a:solidFill>
                  <a:srgbClr val="11253D"/>
                </a:solidFill>
                <a:latin typeface="Aptos" panose="020B0004020202020204" pitchFamily="34" charset="0"/>
              </a:rPr>
              <a:t>56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149B438-3A97-2EFA-C6BF-CA78466335EE}"/>
              </a:ext>
            </a:extLst>
          </p:cNvPr>
          <p:cNvSpPr txBox="1"/>
          <p:nvPr/>
        </p:nvSpPr>
        <p:spPr>
          <a:xfrm>
            <a:off x="1051560" y="2898648"/>
            <a:ext cx="1993392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300" b="1">
                <a:solidFill>
                  <a:srgbClr val="25384A"/>
                </a:solidFill>
                <a:latin typeface="Aptos" panose="020B0004020202020204" pitchFamily="34" charset="0"/>
              </a:rPr>
              <a:t>PROVISIONAMENTO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A6C3D77-B0F4-E758-CCD3-8E4768517E0B}"/>
              </a:ext>
            </a:extLst>
          </p:cNvPr>
          <p:cNvSpPr/>
          <p:nvPr/>
        </p:nvSpPr>
        <p:spPr>
          <a:xfrm>
            <a:off x="3337560" y="2871216"/>
            <a:ext cx="6217920" cy="329184"/>
          </a:xfrm>
          <a:prstGeom prst="rect">
            <a:avLst/>
          </a:prstGeom>
          <a:solidFill>
            <a:srgbClr val="E8ED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262BAFF-A00B-CD1C-EFC7-45185C7ED7AE}"/>
              </a:ext>
            </a:extLst>
          </p:cNvPr>
          <p:cNvSpPr/>
          <p:nvPr/>
        </p:nvSpPr>
        <p:spPr>
          <a:xfrm>
            <a:off x="3337560" y="2871216"/>
            <a:ext cx="2775857" cy="329184"/>
          </a:xfrm>
          <a:prstGeom prst="rect">
            <a:avLst/>
          </a:prstGeom>
          <a:solidFill>
            <a:srgbClr val="537B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2C3F29D-DC4F-343B-98E0-FA019C914230}"/>
              </a:ext>
            </a:extLst>
          </p:cNvPr>
          <p:cNvSpPr txBox="1"/>
          <p:nvPr/>
        </p:nvSpPr>
        <p:spPr>
          <a:xfrm>
            <a:off x="9720072" y="2884932"/>
            <a:ext cx="566928" cy="26225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400" b="1">
                <a:solidFill>
                  <a:srgbClr val="11253D"/>
                </a:solidFill>
                <a:latin typeface="Aptos" panose="020B0004020202020204" pitchFamily="34" charset="0"/>
              </a:rPr>
              <a:t>25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00A0FAF-5918-A4FE-B252-BF17761D0652}"/>
              </a:ext>
            </a:extLst>
          </p:cNvPr>
          <p:cNvSpPr txBox="1"/>
          <p:nvPr/>
        </p:nvSpPr>
        <p:spPr>
          <a:xfrm>
            <a:off x="1051560" y="3529584"/>
            <a:ext cx="1993392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300" b="1">
                <a:solidFill>
                  <a:srgbClr val="25384A"/>
                </a:solidFill>
                <a:latin typeface="Aptos" panose="020B0004020202020204" pitchFamily="34" charset="0"/>
              </a:rPr>
              <a:t>EDIÇÃO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2A1EB54-BB18-02AA-2042-A380AAA4F49D}"/>
              </a:ext>
            </a:extLst>
          </p:cNvPr>
          <p:cNvSpPr/>
          <p:nvPr/>
        </p:nvSpPr>
        <p:spPr>
          <a:xfrm>
            <a:off x="3337560" y="3502152"/>
            <a:ext cx="6217920" cy="329184"/>
          </a:xfrm>
          <a:prstGeom prst="rect">
            <a:avLst/>
          </a:prstGeom>
          <a:solidFill>
            <a:srgbClr val="E8ED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B2FAB9F-7418-EB93-627B-FAA6FE196E54}"/>
              </a:ext>
            </a:extLst>
          </p:cNvPr>
          <p:cNvSpPr/>
          <p:nvPr/>
        </p:nvSpPr>
        <p:spPr>
          <a:xfrm>
            <a:off x="3337560" y="3502152"/>
            <a:ext cx="1332411" cy="329184"/>
          </a:xfrm>
          <a:prstGeom prst="rect">
            <a:avLst/>
          </a:prstGeom>
          <a:solidFill>
            <a:srgbClr val="537B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DF3C7A7-9526-8D4B-27F9-5087DE4872F7}"/>
              </a:ext>
            </a:extLst>
          </p:cNvPr>
          <p:cNvSpPr txBox="1"/>
          <p:nvPr/>
        </p:nvSpPr>
        <p:spPr>
          <a:xfrm>
            <a:off x="9720072" y="3515868"/>
            <a:ext cx="566928" cy="26225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400" b="1">
                <a:solidFill>
                  <a:srgbClr val="11253D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B3F8E7A-E0A8-24AC-4E12-5974F0483828}"/>
              </a:ext>
            </a:extLst>
          </p:cNvPr>
          <p:cNvSpPr txBox="1"/>
          <p:nvPr/>
        </p:nvSpPr>
        <p:spPr>
          <a:xfrm>
            <a:off x="1051560" y="4160520"/>
            <a:ext cx="1993392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300" b="1">
                <a:solidFill>
                  <a:srgbClr val="25384A"/>
                </a:solidFill>
                <a:latin typeface="Aptos" panose="020B0004020202020204" pitchFamily="34" charset="0"/>
              </a:rPr>
              <a:t>VALIDAÇÃO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A7A16EF-0074-19D6-B8EC-8ADFABCFF7DE}"/>
              </a:ext>
            </a:extLst>
          </p:cNvPr>
          <p:cNvSpPr/>
          <p:nvPr/>
        </p:nvSpPr>
        <p:spPr>
          <a:xfrm>
            <a:off x="3337560" y="4133088"/>
            <a:ext cx="6217920" cy="329184"/>
          </a:xfrm>
          <a:prstGeom prst="rect">
            <a:avLst/>
          </a:prstGeom>
          <a:solidFill>
            <a:srgbClr val="E8ED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96A0257-0C7A-C564-BC18-F3FE638BB8BC}"/>
              </a:ext>
            </a:extLst>
          </p:cNvPr>
          <p:cNvSpPr/>
          <p:nvPr/>
        </p:nvSpPr>
        <p:spPr>
          <a:xfrm>
            <a:off x="3337560" y="4133088"/>
            <a:ext cx="2109651" cy="329184"/>
          </a:xfrm>
          <a:prstGeom prst="rect">
            <a:avLst/>
          </a:prstGeom>
          <a:solidFill>
            <a:srgbClr val="537B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5B34E45-B41A-7EB7-BB15-112A73274A23}"/>
              </a:ext>
            </a:extLst>
          </p:cNvPr>
          <p:cNvSpPr txBox="1"/>
          <p:nvPr/>
        </p:nvSpPr>
        <p:spPr>
          <a:xfrm>
            <a:off x="9720072" y="4146804"/>
            <a:ext cx="566928" cy="26225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400" b="1">
                <a:solidFill>
                  <a:srgbClr val="11253D"/>
                </a:solidFill>
                <a:latin typeface="Aptos" panose="020B0004020202020204" pitchFamily="34" charset="0"/>
              </a:rPr>
              <a:t>19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D44F41E-06CE-9E38-D91B-C5EF63DD86F7}"/>
              </a:ext>
            </a:extLst>
          </p:cNvPr>
          <p:cNvSpPr txBox="1"/>
          <p:nvPr/>
        </p:nvSpPr>
        <p:spPr>
          <a:xfrm>
            <a:off x="1051560" y="4791456"/>
            <a:ext cx="1993392" cy="2462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300" b="1">
                <a:solidFill>
                  <a:srgbClr val="25384A"/>
                </a:solidFill>
                <a:latin typeface="Aptos" panose="020B0004020202020204" pitchFamily="34" charset="0"/>
              </a:rPr>
              <a:t>LZ AWS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FFDE8B7-D28C-BD62-6253-C1F421E00E67}"/>
              </a:ext>
            </a:extLst>
          </p:cNvPr>
          <p:cNvSpPr/>
          <p:nvPr/>
        </p:nvSpPr>
        <p:spPr>
          <a:xfrm>
            <a:off x="3337560" y="4764024"/>
            <a:ext cx="6217920" cy="329184"/>
          </a:xfrm>
          <a:prstGeom prst="rect">
            <a:avLst/>
          </a:prstGeom>
          <a:solidFill>
            <a:srgbClr val="E8ED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6DB1EB5-8FD9-4283-8B03-FD12FAF9A9EC}"/>
              </a:ext>
            </a:extLst>
          </p:cNvPr>
          <p:cNvSpPr/>
          <p:nvPr/>
        </p:nvSpPr>
        <p:spPr>
          <a:xfrm>
            <a:off x="3337560" y="4764024"/>
            <a:ext cx="6106885" cy="329184"/>
          </a:xfrm>
          <a:prstGeom prst="rect">
            <a:avLst/>
          </a:prstGeom>
          <a:solidFill>
            <a:srgbClr val="2A8F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C2EC0C52-84F5-550D-F386-5707DC2A4F6F}"/>
              </a:ext>
            </a:extLst>
          </p:cNvPr>
          <p:cNvSpPr txBox="1"/>
          <p:nvPr/>
        </p:nvSpPr>
        <p:spPr>
          <a:xfrm>
            <a:off x="9720072" y="4777740"/>
            <a:ext cx="566928" cy="26225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400" b="1">
                <a:solidFill>
                  <a:srgbClr val="11253D"/>
                </a:solidFill>
                <a:latin typeface="Aptos" panose="020B0004020202020204" pitchFamily="34" charset="0"/>
              </a:rPr>
              <a:t>55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5B9AA84E-03BA-78DC-2A03-79AF3C249749}"/>
              </a:ext>
            </a:extLst>
          </p:cNvPr>
          <p:cNvSpPr txBox="1"/>
          <p:nvPr/>
        </p:nvSpPr>
        <p:spPr>
          <a:xfrm>
            <a:off x="822960" y="5477256"/>
            <a:ext cx="10287000" cy="215444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pt-BR" sz="1100">
                <a:solidFill>
                  <a:srgbClr val="34495E"/>
                </a:solidFill>
                <a:latin typeface="Aptos" panose="020B0004020202020204" pitchFamily="34" charset="0"/>
              </a:rPr>
              <a:t>154 CHGs únicos nas cinco categorias. 13 IDs aparecem em mais de uma categoria; as barras podem se sobrepor.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55F2680-39D3-44A8-C732-763693387EBC}"/>
              </a:ext>
            </a:extLst>
          </p:cNvPr>
          <p:cNvSpPr txBox="1"/>
          <p:nvPr/>
        </p:nvSpPr>
        <p:spPr>
          <a:xfrm>
            <a:off x="822960" y="5925312"/>
            <a:ext cx="10652760" cy="184666"/>
          </a:xfrm>
          <a:prstGeom prst="rect">
            <a:avLst/>
          </a:prstGeom>
          <a:noFill/>
        </p:spPr>
        <p:txBody>
          <a:bodyPr vert="horz" wrap="square" lIns="0" tIns="0" rtlCol="0">
            <a:spAutoFit/>
          </a:bodyPr>
          <a:lstStyle/>
          <a:p>
            <a:r>
              <a:rPr lang="pt-BR" sz="900">
                <a:solidFill>
                  <a:srgbClr val="687785"/>
                </a:solidFill>
                <a:latin typeface="Aptos" panose="020B0004020202020204" pitchFamily="34" charset="0"/>
              </a:rPr>
              <a:t>Fonte: atendimento_demandas.xlsx. Filtro: status “Encerrado(a)”. Período pelo término planejado mais recente por CHG (a planilha não informa a data real de encerramento).</a:t>
            </a:r>
          </a:p>
        </p:txBody>
      </p:sp>
    </p:spTree>
    <p:extLst>
      <p:ext uri="{BB962C8B-B14F-4D97-AF65-F5344CB8AC3E}">
        <p14:creationId xmlns:p14="http://schemas.microsoft.com/office/powerpoint/2010/main" val="51029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3fed9c9-9e02-402c-91c6-79672c367b2e}" enabled="1" method="Standard" siteId="{ccd25372-eb59-436a-ad74-78a49d784cf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Apresentação na tela (16:10)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>Banco Bradesco S.A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GOMIDE DA SILVA MELLO</dc:creator>
  <cp:lastModifiedBy>FELIPE GOMIDE DA SILVA MELLO</cp:lastModifiedBy>
  <cp:revision>1</cp:revision>
  <dcterms:created xsi:type="dcterms:W3CDTF">2026-10-08T14:37:24Z</dcterms:created>
  <dcterms:modified xsi:type="dcterms:W3CDTF">2026-10-08T14:37:24Z</dcterms:modified>
</cp:coreProperties>
</file>